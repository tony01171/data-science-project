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8890"/>
            <a:ext cx="256032" cy="5143500"/>
          </a:xfrm>
          <a:prstGeom prst="rect">
            <a:avLst/>
          </a:prstGeom>
          <a:solidFill>
            <a:srgbClr val="2563EB"/>
          </a:solidFill>
        </p:spPr>
        <p:txBody>
          <a:bodyPr/>
          <a:lstStyle/>
          <a:p>
            <a:endParaRPr lang="en-IN"/>
          </a:p>
        </p:txBody>
      </p:sp>
      <p:sp>
        <p:nvSpPr>
          <p:cNvPr id="3" name="Shape 1"/>
          <p:cNvSpPr/>
          <p:nvPr/>
        </p:nvSpPr>
        <p:spPr>
          <a:xfrm>
            <a:off x="6858000" y="-731520"/>
            <a:ext cx="3657600" cy="3657600"/>
          </a:xfrm>
          <a:prstGeom prst="ellipse">
            <a:avLst/>
          </a:prstGeom>
          <a:solidFill>
            <a:srgbClr val="FFFFFF">
              <a:alpha val="6000"/>
            </a:srgbClr>
          </a:solidFill>
        </p:spPr>
        <p:txBody>
          <a:bodyPr/>
          <a:lstStyle/>
          <a:p>
            <a:endParaRPr lang="en-IN"/>
          </a:p>
        </p:txBody>
      </p:sp>
      <p:sp>
        <p:nvSpPr>
          <p:cNvPr id="4" name="Shape 2"/>
          <p:cNvSpPr/>
          <p:nvPr/>
        </p:nvSpPr>
        <p:spPr>
          <a:xfrm>
            <a:off x="7498080" y="2286000"/>
            <a:ext cx="2286000" cy="2286000"/>
          </a:xfrm>
          <a:prstGeom prst="ellipse">
            <a:avLst/>
          </a:prstGeom>
          <a:solidFill>
            <a:srgbClr val="FFFFFF">
              <a:alpha val="4000"/>
            </a:srgbClr>
          </a:solidFill>
        </p:spPr>
        <p:txBody>
          <a:bodyPr/>
          <a:lstStyle/>
          <a:p>
            <a:endParaRPr lang="en-IN"/>
          </a:p>
        </p:txBody>
      </p:sp>
      <p:sp>
        <p:nvSpPr>
          <p:cNvPr id="5" name="Text 3"/>
          <p:cNvSpPr/>
          <p:nvPr/>
        </p:nvSpPr>
        <p:spPr>
          <a:xfrm>
            <a:off x="502920" y="822960"/>
            <a:ext cx="7772400" cy="502920"/>
          </a:xfrm>
          <a:prstGeom prst="rect">
            <a:avLst/>
          </a:prstGeom>
          <a:noFill/>
        </p:spPr>
        <p:txBody>
          <a:bodyPr wrap="square" rtlCol="0" anchor="ctr"/>
          <a:lstStyle/>
          <a:p>
            <a:pPr marL="0" indent="0">
              <a:buNone/>
            </a:pPr>
            <a:r>
              <a:rPr lang="en-US" sz="1300" b="1" kern="0" spc="400" dirty="0">
                <a:solidFill>
                  <a:srgbClr val="93C5FD"/>
                </a:solidFill>
                <a:latin typeface="Calibri" panose="020F0502020204030204" pitchFamily="34" charset="0"/>
                <a:ea typeface="Calibri" panose="020F0502020204030204" pitchFamily="34" charset="-122"/>
                <a:cs typeface="Calibri" panose="020F0502020204030204" pitchFamily="34" charset="-120"/>
              </a:rPr>
              <a:t>POWER BI PROJECT</a:t>
            </a:r>
            <a:endParaRPr lang="en-IN" altLang="en-US" sz="1300" b="1" kern="0" spc="4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p:nvPr/>
        </p:nvSpPr>
        <p:spPr>
          <a:xfrm>
            <a:off x="502920" y="1325880"/>
            <a:ext cx="7772400" cy="118872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r>
              <a:rPr lang="en-US" alt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StudyPulse: Student Performance Analytics</a:t>
            </a: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t>
            </a:r>
            <a:endParaRPr lang="en-US" sz="3400" dirty="0"/>
          </a:p>
        </p:txBody>
      </p:sp>
      <p:sp>
        <p:nvSpPr>
          <p:cNvPr id="7" name="Text 5"/>
          <p:cNvSpPr/>
          <p:nvPr/>
        </p:nvSpPr>
        <p:spPr>
          <a:xfrm>
            <a:off x="502920" y="2560320"/>
            <a:ext cx="7772400" cy="365760"/>
          </a:xfrm>
          <a:prstGeom prst="rect">
            <a:avLst/>
          </a:prstGeom>
          <a:noFill/>
        </p:spPr>
        <p:txBody>
          <a:bodyPr wrap="square" rtlCol="0" anchor="ctr"/>
          <a:lstStyle/>
          <a:p>
            <a:pPr marL="0" indent="0">
              <a:buNone/>
            </a:pPr>
            <a:r>
              <a:rPr lang="en-US" sz="1400" dirty="0">
                <a:solidFill>
                  <a:srgbClr val="BFDBFE"/>
                </a:solidFill>
                <a:latin typeface="Calibri" panose="020F0502020204030204" pitchFamily="34" charset="0"/>
                <a:ea typeface="Calibri" panose="020F0502020204030204" pitchFamily="34" charset="-122"/>
                <a:cs typeface="Calibri" panose="020F0502020204030204" pitchFamily="34" charset="-120"/>
              </a:rPr>
              <a:t>Summer Training — Power BI | [</a:t>
            </a:r>
            <a:r>
              <a:rPr lang="en-IN" altLang="en-US" sz="1400" dirty="0">
                <a:solidFill>
                  <a:srgbClr val="BFDBFE"/>
                </a:solidFill>
                <a:latin typeface="Calibri" panose="020F0502020204030204" pitchFamily="34" charset="0"/>
                <a:ea typeface="Calibri" panose="020F0502020204030204" pitchFamily="34" charset="-122"/>
                <a:cs typeface="Calibri" panose="020F0502020204030204" pitchFamily="34" charset="-120"/>
              </a:rPr>
              <a:t>Chandigarh Engineering College</a:t>
            </a:r>
            <a:r>
              <a:rPr lang="en-US" sz="1400" dirty="0">
                <a:solidFill>
                  <a:srgbClr val="BFDBFE"/>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8" name="Shape 6"/>
          <p:cNvSpPr/>
          <p:nvPr/>
        </p:nvSpPr>
        <p:spPr>
          <a:xfrm>
            <a:off x="256032" y="3931920"/>
            <a:ext cx="8887968" cy="1207008"/>
          </a:xfrm>
          <a:prstGeom prst="rect">
            <a:avLst/>
          </a:prstGeom>
          <a:solidFill>
            <a:srgbClr val="FFFFFF">
              <a:alpha val="8000"/>
            </a:srgbClr>
          </a:solidFill>
        </p:spPr>
        <p:txBody>
          <a:bodyPr/>
          <a:lstStyle/>
          <a:p>
            <a:endParaRPr lang="en-IN"/>
          </a:p>
        </p:txBody>
      </p:sp>
      <p:sp>
        <p:nvSpPr>
          <p:cNvPr id="9" name="Text 7"/>
          <p:cNvSpPr/>
          <p:nvPr/>
        </p:nvSpPr>
        <p:spPr>
          <a:xfrm>
            <a:off x="457200" y="4005072"/>
            <a:ext cx="2011680" cy="274320"/>
          </a:xfrm>
          <a:prstGeom prst="rect">
            <a:avLst/>
          </a:prstGeom>
          <a:noFill/>
        </p:spPr>
        <p:txBody>
          <a:bodyPr wrap="square" rtlCol="0" anchor="ctr"/>
          <a:lstStyle/>
          <a:p>
            <a:pPr marL="0" indent="0">
              <a:buNone/>
            </a:pPr>
            <a:r>
              <a:rPr lang="en-US" sz="900" dirty="0">
                <a:solidFill>
                  <a:srgbClr val="93C5FD"/>
                </a:solidFill>
                <a:latin typeface="Calibri" panose="020F0502020204030204" pitchFamily="34" charset="0"/>
                <a:ea typeface="Calibri" panose="020F0502020204030204" pitchFamily="34" charset="-122"/>
                <a:cs typeface="Calibri" panose="020F0502020204030204" pitchFamily="34" charset="-120"/>
              </a:rPr>
              <a:t>Presented by</a:t>
            </a:r>
            <a:endParaRPr lang="en-US" sz="900" dirty="0"/>
          </a:p>
        </p:txBody>
      </p:sp>
      <p:sp>
        <p:nvSpPr>
          <p:cNvPr id="10" name="Text 8"/>
          <p:cNvSpPr/>
          <p:nvPr/>
        </p:nvSpPr>
        <p:spPr>
          <a:xfrm>
            <a:off x="457200" y="4279392"/>
            <a:ext cx="2011680" cy="640080"/>
          </a:xfrm>
          <a:prstGeom prst="rect">
            <a:avLst/>
          </a:prstGeom>
          <a:noFill/>
        </p:spPr>
        <p:txBody>
          <a:bodyPr wrap="square" rtlCol="0" anchor="ct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TONY</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  [</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2547252</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1" name="Text 9"/>
          <p:cNvSpPr/>
          <p:nvPr/>
        </p:nvSpPr>
        <p:spPr>
          <a:xfrm>
            <a:off x="2606040" y="4005072"/>
            <a:ext cx="2011680" cy="274320"/>
          </a:xfrm>
          <a:prstGeom prst="rect">
            <a:avLst/>
          </a:prstGeom>
          <a:noFill/>
        </p:spPr>
        <p:txBody>
          <a:bodyPr wrap="square" rtlCol="0" anchor="ctr"/>
          <a:lstStyle/>
          <a:p>
            <a:pPr marL="0" indent="0">
              <a:buNone/>
            </a:pPr>
            <a:r>
              <a:rPr lang="en-US" sz="900" dirty="0">
                <a:solidFill>
                  <a:srgbClr val="93C5FD"/>
                </a:solidFill>
                <a:latin typeface="Calibri" panose="020F0502020204030204" pitchFamily="34" charset="0"/>
                <a:ea typeface="Calibri" panose="020F0502020204030204" pitchFamily="34" charset="-122"/>
                <a:cs typeface="Calibri" panose="020F0502020204030204" pitchFamily="34" charset="-120"/>
              </a:rPr>
              <a:t>Course</a:t>
            </a:r>
            <a:endParaRPr lang="en-US" sz="900" dirty="0"/>
          </a:p>
        </p:txBody>
      </p:sp>
      <p:sp>
        <p:nvSpPr>
          <p:cNvPr id="12" name="Text 10"/>
          <p:cNvSpPr/>
          <p:nvPr/>
        </p:nvSpPr>
        <p:spPr>
          <a:xfrm>
            <a:off x="2606040" y="4279392"/>
            <a:ext cx="2011680" cy="640080"/>
          </a:xfrm>
          <a:prstGeom prst="rect">
            <a:avLst/>
          </a:prstGeom>
          <a:noFill/>
        </p:spPr>
        <p:txBody>
          <a:bodyPr wrap="square" rtlCol="0" anchor="ct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[B.Tech — </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AI&amp;DS</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3" name="Text 11"/>
          <p:cNvSpPr/>
          <p:nvPr/>
        </p:nvSpPr>
        <p:spPr>
          <a:xfrm>
            <a:off x="4754880" y="4005072"/>
            <a:ext cx="2011680" cy="274320"/>
          </a:xfrm>
          <a:prstGeom prst="rect">
            <a:avLst/>
          </a:prstGeom>
          <a:noFill/>
        </p:spPr>
        <p:txBody>
          <a:bodyPr wrap="square" rtlCol="0" anchor="ctr"/>
          <a:lstStyle/>
          <a:p>
            <a:pPr marL="0" indent="0">
              <a:buNone/>
            </a:pPr>
            <a:r>
              <a:rPr lang="en-US" sz="900" dirty="0">
                <a:solidFill>
                  <a:srgbClr val="93C5FD"/>
                </a:solidFill>
                <a:latin typeface="Calibri" panose="020F0502020204030204" pitchFamily="34" charset="0"/>
                <a:ea typeface="Calibri" panose="020F0502020204030204" pitchFamily="34" charset="-122"/>
                <a:cs typeface="Calibri" panose="020F0502020204030204" pitchFamily="34" charset="-120"/>
              </a:rPr>
              <a:t>Guided by</a:t>
            </a:r>
            <a:endParaRPr lang="en-US" sz="900" dirty="0"/>
          </a:p>
        </p:txBody>
      </p:sp>
      <p:sp>
        <p:nvSpPr>
          <p:cNvPr id="14" name="Text 12"/>
          <p:cNvSpPr/>
          <p:nvPr/>
        </p:nvSpPr>
        <p:spPr>
          <a:xfrm>
            <a:off x="4754880" y="4279392"/>
            <a:ext cx="2011680" cy="640080"/>
          </a:xfrm>
          <a:prstGeom prst="rect">
            <a:avLst/>
          </a:prstGeom>
          <a:noFill/>
        </p:spPr>
        <p:txBody>
          <a:bodyPr wrap="square" rtlCol="0" anchor="ct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Ms. Ashima</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5" name="Text 13"/>
          <p:cNvSpPr/>
          <p:nvPr/>
        </p:nvSpPr>
        <p:spPr>
          <a:xfrm>
            <a:off x="6903720" y="4005072"/>
            <a:ext cx="2011680" cy="274320"/>
          </a:xfrm>
          <a:prstGeom prst="rect">
            <a:avLst/>
          </a:prstGeom>
          <a:noFill/>
        </p:spPr>
        <p:txBody>
          <a:bodyPr wrap="square" rtlCol="0" anchor="ctr"/>
          <a:lstStyle/>
          <a:p>
            <a:pPr marL="0" indent="0">
              <a:buNone/>
            </a:pPr>
            <a:r>
              <a:rPr lang="en-US" sz="900" dirty="0">
                <a:solidFill>
                  <a:srgbClr val="93C5FD"/>
                </a:solidFill>
                <a:latin typeface="Calibri" panose="020F0502020204030204" pitchFamily="34" charset="0"/>
                <a:ea typeface="Calibri" panose="020F0502020204030204" pitchFamily="34" charset="-122"/>
                <a:cs typeface="Calibri" panose="020F0502020204030204" pitchFamily="34" charset="-120"/>
              </a:rPr>
              <a:t>Date</a:t>
            </a:r>
            <a:endParaRPr lang="en-US" sz="900" dirty="0"/>
          </a:p>
        </p:txBody>
      </p:sp>
      <p:sp>
        <p:nvSpPr>
          <p:cNvPr id="16" name="Text 14"/>
          <p:cNvSpPr/>
          <p:nvPr/>
        </p:nvSpPr>
        <p:spPr>
          <a:xfrm>
            <a:off x="6903720" y="4279392"/>
            <a:ext cx="2011680" cy="640080"/>
          </a:xfrm>
          <a:prstGeom prst="rect">
            <a:avLst/>
          </a:prstGeom>
          <a:noFill/>
        </p:spPr>
        <p:txBody>
          <a:bodyPr wrap="square" rtlCol="0" anchor="ct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30</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june</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IN" alt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2026</a:t>
            </a: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pic>
        <p:nvPicPr>
          <p:cNvPr id="18" name="Picture 17"/>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p:spPr>
        <p:txBody>
          <a:bodyPr/>
          <a:lstStyle/>
          <a:p>
            <a:endParaRPr lang="en-IN"/>
          </a:p>
        </p:txBody>
      </p:sp>
      <p:sp>
        <p:nvSpPr>
          <p:cNvPr id="3" name="Text 1"/>
          <p:cNvSpPr/>
          <p:nvPr/>
        </p:nvSpPr>
        <p:spPr>
          <a:xfrm>
            <a:off x="457200" y="594360"/>
            <a:ext cx="8229600" cy="457200"/>
          </a:xfrm>
          <a:prstGeom prst="rect">
            <a:avLst/>
          </a:prstGeom>
          <a:noFill/>
        </p:spPr>
        <p:txBody>
          <a:bodyPr wrap="square" rtlCol="0" anchor="ctr"/>
          <a:lstStyle/>
          <a:p>
            <a:pPr marL="0" indent="0">
              <a:buNone/>
            </a:pPr>
            <a:r>
              <a:rPr lang="en-US" sz="2800" b="1" dirty="0">
                <a:solidFill>
                  <a:srgbClr val="1B3A6B"/>
                </a:solidFill>
                <a:latin typeface="Cambria" panose="02040503050406030204" pitchFamily="34" charset="0"/>
                <a:ea typeface="Cambria" panose="02040503050406030204" pitchFamily="34" charset="-122"/>
                <a:cs typeface="Cambria" panose="02040503050406030204" pitchFamily="34" charset="-120"/>
              </a:rPr>
              <a:t>Agenda</a:t>
            </a:r>
            <a:endParaRPr lang="en-US" sz="2800" dirty="0"/>
          </a:p>
        </p:txBody>
      </p:sp>
      <p:sp>
        <p:nvSpPr>
          <p:cNvPr id="4" name="Shape 2"/>
          <p:cNvSpPr/>
          <p:nvPr/>
        </p:nvSpPr>
        <p:spPr>
          <a:xfrm>
            <a:off x="411480" y="1234440"/>
            <a:ext cx="384048" cy="384048"/>
          </a:xfrm>
          <a:prstGeom prst="ellipse">
            <a:avLst/>
          </a:prstGeom>
          <a:solidFill>
            <a:srgbClr val="1B3A6B"/>
          </a:solidFill>
        </p:spPr>
        <p:txBody>
          <a:bodyPr/>
          <a:lstStyle/>
          <a:p>
            <a:endParaRPr lang="en-IN"/>
          </a:p>
        </p:txBody>
      </p:sp>
      <p:sp>
        <p:nvSpPr>
          <p:cNvPr id="5" name="Text 3"/>
          <p:cNvSpPr/>
          <p:nvPr/>
        </p:nvSpPr>
        <p:spPr>
          <a:xfrm>
            <a:off x="411480" y="1243584"/>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100" dirty="0"/>
          </a:p>
        </p:txBody>
      </p:sp>
      <p:sp>
        <p:nvSpPr>
          <p:cNvPr id="6" name="Text 4"/>
          <p:cNvSpPr/>
          <p:nvPr/>
        </p:nvSpPr>
        <p:spPr>
          <a:xfrm>
            <a:off x="914400" y="1234440"/>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Problem Statement &amp; Objective</a:t>
            </a:r>
            <a:endParaRPr lang="en-US" sz="1300" dirty="0"/>
          </a:p>
        </p:txBody>
      </p:sp>
      <p:sp>
        <p:nvSpPr>
          <p:cNvPr id="7" name="Shape 5"/>
          <p:cNvSpPr/>
          <p:nvPr/>
        </p:nvSpPr>
        <p:spPr>
          <a:xfrm>
            <a:off x="411480" y="1947672"/>
            <a:ext cx="384048" cy="384048"/>
          </a:xfrm>
          <a:prstGeom prst="ellipse">
            <a:avLst/>
          </a:prstGeom>
          <a:solidFill>
            <a:srgbClr val="1B3A6B"/>
          </a:solidFill>
        </p:spPr>
        <p:txBody>
          <a:bodyPr/>
          <a:lstStyle/>
          <a:p>
            <a:endParaRPr lang="en-IN"/>
          </a:p>
        </p:txBody>
      </p:sp>
      <p:sp>
        <p:nvSpPr>
          <p:cNvPr id="8" name="Text 6"/>
          <p:cNvSpPr/>
          <p:nvPr/>
        </p:nvSpPr>
        <p:spPr>
          <a:xfrm>
            <a:off x="411480" y="1956816"/>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
        <p:nvSpPr>
          <p:cNvPr id="9" name="Text 7"/>
          <p:cNvSpPr/>
          <p:nvPr/>
        </p:nvSpPr>
        <p:spPr>
          <a:xfrm>
            <a:off x="914400" y="1947672"/>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Dataset Overview</a:t>
            </a:r>
            <a:endParaRPr lang="en-US" sz="1300" dirty="0"/>
          </a:p>
        </p:txBody>
      </p:sp>
      <p:sp>
        <p:nvSpPr>
          <p:cNvPr id="10" name="Shape 8"/>
          <p:cNvSpPr/>
          <p:nvPr/>
        </p:nvSpPr>
        <p:spPr>
          <a:xfrm>
            <a:off x="411480" y="2660904"/>
            <a:ext cx="384048" cy="384048"/>
          </a:xfrm>
          <a:prstGeom prst="ellipse">
            <a:avLst/>
          </a:prstGeom>
          <a:solidFill>
            <a:srgbClr val="1B3A6B"/>
          </a:solidFill>
        </p:spPr>
        <p:txBody>
          <a:bodyPr/>
          <a:lstStyle/>
          <a:p>
            <a:endParaRPr lang="en-IN"/>
          </a:p>
        </p:txBody>
      </p:sp>
      <p:sp>
        <p:nvSpPr>
          <p:cNvPr id="11" name="Text 9"/>
          <p:cNvSpPr/>
          <p:nvPr/>
        </p:nvSpPr>
        <p:spPr>
          <a:xfrm>
            <a:off x="411480" y="2670048"/>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
        <p:nvSpPr>
          <p:cNvPr id="12" name="Text 10"/>
          <p:cNvSpPr/>
          <p:nvPr/>
        </p:nvSpPr>
        <p:spPr>
          <a:xfrm>
            <a:off x="914400" y="2660904"/>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Data Model — Star Schema</a:t>
            </a:r>
            <a:endParaRPr lang="en-US" sz="1300" dirty="0"/>
          </a:p>
        </p:txBody>
      </p:sp>
      <p:sp>
        <p:nvSpPr>
          <p:cNvPr id="13" name="Shape 11"/>
          <p:cNvSpPr/>
          <p:nvPr/>
        </p:nvSpPr>
        <p:spPr>
          <a:xfrm>
            <a:off x="411480" y="3374136"/>
            <a:ext cx="384048" cy="384048"/>
          </a:xfrm>
          <a:prstGeom prst="ellipse">
            <a:avLst/>
          </a:prstGeom>
          <a:solidFill>
            <a:srgbClr val="1B3A6B"/>
          </a:solidFill>
        </p:spPr>
        <p:txBody>
          <a:bodyPr/>
          <a:lstStyle/>
          <a:p>
            <a:endParaRPr lang="en-IN"/>
          </a:p>
        </p:txBody>
      </p:sp>
      <p:sp>
        <p:nvSpPr>
          <p:cNvPr id="14" name="Text 12"/>
          <p:cNvSpPr/>
          <p:nvPr/>
        </p:nvSpPr>
        <p:spPr>
          <a:xfrm>
            <a:off x="411480" y="3383280"/>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
        <p:nvSpPr>
          <p:cNvPr id="15" name="Text 13"/>
          <p:cNvSpPr/>
          <p:nvPr/>
        </p:nvSpPr>
        <p:spPr>
          <a:xfrm>
            <a:off x="914400" y="3374136"/>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Power Query — Cleaning Steps</a:t>
            </a:r>
            <a:endParaRPr lang="en-US" sz="1300" dirty="0"/>
          </a:p>
        </p:txBody>
      </p:sp>
      <p:sp>
        <p:nvSpPr>
          <p:cNvPr id="16" name="Shape 14"/>
          <p:cNvSpPr/>
          <p:nvPr/>
        </p:nvSpPr>
        <p:spPr>
          <a:xfrm>
            <a:off x="411480" y="4087368"/>
            <a:ext cx="384048" cy="384048"/>
          </a:xfrm>
          <a:prstGeom prst="ellipse">
            <a:avLst/>
          </a:prstGeom>
          <a:solidFill>
            <a:srgbClr val="1B3A6B"/>
          </a:solidFill>
        </p:spPr>
        <p:txBody>
          <a:bodyPr/>
          <a:lstStyle/>
          <a:p>
            <a:endParaRPr lang="en-IN"/>
          </a:p>
        </p:txBody>
      </p:sp>
      <p:sp>
        <p:nvSpPr>
          <p:cNvPr id="17" name="Text 15"/>
          <p:cNvSpPr/>
          <p:nvPr/>
        </p:nvSpPr>
        <p:spPr>
          <a:xfrm>
            <a:off x="411480" y="4096512"/>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18" name="Text 16"/>
          <p:cNvSpPr/>
          <p:nvPr/>
        </p:nvSpPr>
        <p:spPr>
          <a:xfrm>
            <a:off x="914400" y="4087368"/>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DAX Measures</a:t>
            </a:r>
            <a:endParaRPr lang="en-US" sz="1300" dirty="0"/>
          </a:p>
        </p:txBody>
      </p:sp>
      <p:sp>
        <p:nvSpPr>
          <p:cNvPr id="19" name="Shape 17"/>
          <p:cNvSpPr/>
          <p:nvPr/>
        </p:nvSpPr>
        <p:spPr>
          <a:xfrm>
            <a:off x="4754880" y="1234440"/>
            <a:ext cx="384048" cy="384048"/>
          </a:xfrm>
          <a:prstGeom prst="ellipse">
            <a:avLst/>
          </a:prstGeom>
          <a:solidFill>
            <a:srgbClr val="1B3A6B"/>
          </a:solidFill>
        </p:spPr>
        <p:txBody>
          <a:bodyPr/>
          <a:lstStyle/>
          <a:p>
            <a:endParaRPr lang="en-IN"/>
          </a:p>
        </p:txBody>
      </p:sp>
      <p:sp>
        <p:nvSpPr>
          <p:cNvPr id="20" name="Text 18"/>
          <p:cNvSpPr/>
          <p:nvPr/>
        </p:nvSpPr>
        <p:spPr>
          <a:xfrm>
            <a:off x="4754880" y="1243584"/>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
        <p:nvSpPr>
          <p:cNvPr id="21" name="Text 19"/>
          <p:cNvSpPr/>
          <p:nvPr/>
        </p:nvSpPr>
        <p:spPr>
          <a:xfrm>
            <a:off x="5257800" y="1234440"/>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Dashboard Walkthrough</a:t>
            </a:r>
            <a:endParaRPr lang="en-US" sz="1300" dirty="0"/>
          </a:p>
        </p:txBody>
      </p:sp>
      <p:sp>
        <p:nvSpPr>
          <p:cNvPr id="22" name="Shape 20"/>
          <p:cNvSpPr/>
          <p:nvPr/>
        </p:nvSpPr>
        <p:spPr>
          <a:xfrm>
            <a:off x="4754880" y="1947672"/>
            <a:ext cx="384048" cy="384048"/>
          </a:xfrm>
          <a:prstGeom prst="ellipse">
            <a:avLst/>
          </a:prstGeom>
          <a:solidFill>
            <a:srgbClr val="1B3A6B"/>
          </a:solidFill>
        </p:spPr>
        <p:txBody>
          <a:bodyPr/>
          <a:lstStyle/>
          <a:p>
            <a:endParaRPr lang="en-IN"/>
          </a:p>
        </p:txBody>
      </p:sp>
      <p:sp>
        <p:nvSpPr>
          <p:cNvPr id="23" name="Text 21"/>
          <p:cNvSpPr/>
          <p:nvPr/>
        </p:nvSpPr>
        <p:spPr>
          <a:xfrm>
            <a:off x="4754880" y="1956816"/>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100" dirty="0"/>
          </a:p>
        </p:txBody>
      </p:sp>
      <p:sp>
        <p:nvSpPr>
          <p:cNvPr id="24" name="Text 22"/>
          <p:cNvSpPr/>
          <p:nvPr/>
        </p:nvSpPr>
        <p:spPr>
          <a:xfrm>
            <a:off x="5257800" y="1947672"/>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Key Insights &amp; Findings</a:t>
            </a:r>
            <a:endParaRPr lang="en-US" sz="1300" dirty="0"/>
          </a:p>
        </p:txBody>
      </p:sp>
      <p:sp>
        <p:nvSpPr>
          <p:cNvPr id="25" name="Shape 23"/>
          <p:cNvSpPr/>
          <p:nvPr/>
        </p:nvSpPr>
        <p:spPr>
          <a:xfrm>
            <a:off x="4754880" y="2660904"/>
            <a:ext cx="384048" cy="384048"/>
          </a:xfrm>
          <a:prstGeom prst="ellipse">
            <a:avLst/>
          </a:prstGeom>
          <a:solidFill>
            <a:srgbClr val="1B3A6B"/>
          </a:solidFill>
        </p:spPr>
        <p:txBody>
          <a:bodyPr/>
          <a:lstStyle/>
          <a:p>
            <a:endParaRPr lang="en-IN"/>
          </a:p>
        </p:txBody>
      </p:sp>
      <p:sp>
        <p:nvSpPr>
          <p:cNvPr id="26" name="Text 24"/>
          <p:cNvSpPr/>
          <p:nvPr/>
        </p:nvSpPr>
        <p:spPr>
          <a:xfrm>
            <a:off x="4754880" y="2670048"/>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100" dirty="0"/>
          </a:p>
        </p:txBody>
      </p:sp>
      <p:sp>
        <p:nvSpPr>
          <p:cNvPr id="27" name="Text 25"/>
          <p:cNvSpPr/>
          <p:nvPr/>
        </p:nvSpPr>
        <p:spPr>
          <a:xfrm>
            <a:off x="5257800" y="2660904"/>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Publishing to Power BI Service</a:t>
            </a:r>
            <a:endParaRPr lang="en-US" sz="1300" dirty="0"/>
          </a:p>
        </p:txBody>
      </p:sp>
      <p:sp>
        <p:nvSpPr>
          <p:cNvPr id="28" name="Shape 26"/>
          <p:cNvSpPr/>
          <p:nvPr/>
        </p:nvSpPr>
        <p:spPr>
          <a:xfrm>
            <a:off x="4754880" y="3374136"/>
            <a:ext cx="384048" cy="384048"/>
          </a:xfrm>
          <a:prstGeom prst="ellipse">
            <a:avLst/>
          </a:prstGeom>
          <a:solidFill>
            <a:srgbClr val="1B3A6B"/>
          </a:solidFill>
        </p:spPr>
        <p:txBody>
          <a:bodyPr/>
          <a:lstStyle/>
          <a:p>
            <a:endParaRPr lang="en-IN"/>
          </a:p>
        </p:txBody>
      </p:sp>
      <p:sp>
        <p:nvSpPr>
          <p:cNvPr id="29" name="Text 27"/>
          <p:cNvSpPr/>
          <p:nvPr/>
        </p:nvSpPr>
        <p:spPr>
          <a:xfrm>
            <a:off x="4754880" y="3383280"/>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a:t>
            </a:r>
            <a:endParaRPr lang="en-US" sz="1100" dirty="0"/>
          </a:p>
        </p:txBody>
      </p:sp>
      <p:sp>
        <p:nvSpPr>
          <p:cNvPr id="30" name="Text 28"/>
          <p:cNvSpPr/>
          <p:nvPr/>
        </p:nvSpPr>
        <p:spPr>
          <a:xfrm>
            <a:off x="5257800" y="3374136"/>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Challenges &amp; Learnings</a:t>
            </a:r>
            <a:endParaRPr lang="en-US" sz="1300" dirty="0"/>
          </a:p>
        </p:txBody>
      </p:sp>
      <p:sp>
        <p:nvSpPr>
          <p:cNvPr id="31" name="Shape 29"/>
          <p:cNvSpPr/>
          <p:nvPr/>
        </p:nvSpPr>
        <p:spPr>
          <a:xfrm>
            <a:off x="4754880" y="4087368"/>
            <a:ext cx="384048" cy="384048"/>
          </a:xfrm>
          <a:prstGeom prst="ellipse">
            <a:avLst/>
          </a:prstGeom>
          <a:solidFill>
            <a:srgbClr val="1B3A6B"/>
          </a:solidFill>
        </p:spPr>
        <p:txBody>
          <a:bodyPr/>
          <a:lstStyle/>
          <a:p>
            <a:endParaRPr lang="en-IN"/>
          </a:p>
        </p:txBody>
      </p:sp>
      <p:sp>
        <p:nvSpPr>
          <p:cNvPr id="32" name="Text 30"/>
          <p:cNvSpPr/>
          <p:nvPr/>
        </p:nvSpPr>
        <p:spPr>
          <a:xfrm>
            <a:off x="4754880" y="4096512"/>
            <a:ext cx="384048"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
        <p:nvSpPr>
          <p:cNvPr id="33" name="Text 31"/>
          <p:cNvSpPr/>
          <p:nvPr/>
        </p:nvSpPr>
        <p:spPr>
          <a:xfrm>
            <a:off x="5257800" y="4087368"/>
            <a:ext cx="4023360" cy="384048"/>
          </a:xfrm>
          <a:prstGeom prst="rect">
            <a:avLst/>
          </a:prstGeom>
          <a:noFill/>
        </p:spPr>
        <p:txBody>
          <a:bodyPr wrap="square" rtlCol="0" anchor="ctr"/>
          <a:lstStyle/>
          <a:p>
            <a:pPr marL="0" indent="0">
              <a:buNone/>
            </a:pPr>
            <a:r>
              <a:rPr lang="en-US" sz="1300" dirty="0">
                <a:solidFill>
                  <a:srgbClr val="1E293B"/>
                </a:solidFill>
                <a:latin typeface="Calibri" panose="020F0502020204030204" pitchFamily="34" charset="0"/>
                <a:ea typeface="Calibri" panose="020F0502020204030204" pitchFamily="34" charset="-122"/>
                <a:cs typeface="Calibri" panose="020F0502020204030204" pitchFamily="34" charset="-120"/>
              </a:rPr>
              <a:t>Conclusion &amp; Q&amp;A</a:t>
            </a:r>
            <a:endParaRPr lang="en-US" sz="1300" dirty="0"/>
          </a:p>
        </p:txBody>
      </p:sp>
      <p:sp>
        <p:nvSpPr>
          <p:cNvPr id="34" name="Text 32"/>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64748B"/>
                </a:solidFill>
              </a:rPr>
              <a:t>2 / 14</a:t>
            </a:r>
            <a:endParaRPr lang="en-US" sz="900" dirty="0"/>
          </a:p>
        </p:txBody>
      </p:sp>
      <p:pic>
        <p:nvPicPr>
          <p:cNvPr id="36" name="Picture 35"/>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p:spPr>
        <p:txBody>
          <a:bodyPr/>
          <a:lstStyle/>
          <a:p>
            <a:endParaRPr lang="en-IN"/>
          </a:p>
        </p:txBody>
      </p:sp>
      <p:sp>
        <p:nvSpPr>
          <p:cNvPr id="3" name="Text 1"/>
          <p:cNvSpPr/>
          <p:nvPr/>
        </p:nvSpPr>
        <p:spPr>
          <a:xfrm>
            <a:off x="457200" y="1828800"/>
            <a:ext cx="8229600" cy="822960"/>
          </a:xfrm>
          <a:prstGeom prst="rect">
            <a:avLst/>
          </a:prstGeom>
          <a:noFill/>
        </p:spPr>
        <p:txBody>
          <a:bodyPr wrap="square" rtlCol="0" anchor="ctr"/>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01  Problem Statement</a:t>
            </a:r>
            <a:endParaRPr lang="en-US" sz="3600" dirty="0"/>
          </a:p>
        </p:txBody>
      </p:sp>
      <p:sp>
        <p:nvSpPr>
          <p:cNvPr id="4" name="Text 2"/>
          <p:cNvSpPr/>
          <p:nvPr/>
        </p:nvSpPr>
        <p:spPr>
          <a:xfrm>
            <a:off x="457200" y="3169920"/>
            <a:ext cx="8229600" cy="457200"/>
          </a:xfrm>
          <a:prstGeom prst="rect">
            <a:avLst/>
          </a:prstGeom>
          <a:noFill/>
        </p:spPr>
        <p:txBody>
          <a:bodyPr wrap="square" rtlCol="0" anchor="ctr"/>
          <a:lstStyle/>
          <a:p>
            <a:pPr marL="0" indent="0">
              <a:buNone/>
            </a:pPr>
            <a:r>
              <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rPr>
              <a:t>What problem does this dashboard solve?</a:t>
            </a:r>
            <a:endPar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rPr>
              <a:t>Educational institutions collect student data, but it is difficult to manually analyze large datasets and identify academic trends. This project solves the problem by converting raw student data into meaningful visual insights using Python and Power BI.</a:t>
            </a:r>
            <a:endParaRPr lang="en-US" alt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600" dirty="0"/>
          </a:p>
          <a:p>
            <a:pPr marL="0" indent="0">
              <a:buNone/>
            </a:pPr>
            <a:endParaRPr lang="en-US" sz="1600" dirty="0"/>
          </a:p>
        </p:txBody>
      </p:sp>
      <p:sp>
        <p:nvSpPr>
          <p:cNvPr id="5" name="Text 3"/>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93C5FD"/>
                </a:solidFill>
              </a:rPr>
              <a:t>3 / 14</a:t>
            </a:r>
            <a:endParaRPr lang="en-US" sz="900" dirty="0"/>
          </a:p>
        </p:txBody>
      </p:sp>
      <p:pic>
        <p:nvPicPr>
          <p:cNvPr id="7" name="Picture 6"/>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p:spPr>
        <p:txBody>
          <a:bodyPr/>
          <a:lstStyle/>
          <a:p>
            <a:endParaRPr lang="en-IN"/>
          </a:p>
        </p:txBody>
      </p:sp>
      <p:sp>
        <p:nvSpPr>
          <p:cNvPr id="3" name="Text 1"/>
          <p:cNvSpPr/>
          <p:nvPr/>
        </p:nvSpPr>
        <p:spPr>
          <a:xfrm>
            <a:off x="457200" y="594360"/>
            <a:ext cx="8229600" cy="457200"/>
          </a:xfrm>
          <a:prstGeom prst="rect">
            <a:avLst/>
          </a:prstGeom>
          <a:noFill/>
        </p:spPr>
        <p:txBody>
          <a:bodyPr wrap="square" rtlCol="0" anchor="ctr"/>
          <a:lstStyle/>
          <a:p>
            <a:pPr marL="0" indent="0">
              <a:buNone/>
            </a:pPr>
            <a:r>
              <a:rPr lang="en-US" sz="2600" b="1" dirty="0">
                <a:solidFill>
                  <a:srgbClr val="1B3A6B"/>
                </a:solidFill>
                <a:latin typeface="Cambria" panose="02040503050406030204" pitchFamily="34" charset="0"/>
                <a:ea typeface="Cambria" panose="02040503050406030204" pitchFamily="34" charset="-122"/>
                <a:cs typeface="Cambria" panose="02040503050406030204" pitchFamily="34" charset="-120"/>
              </a:rPr>
              <a:t>Problem Statement &amp; Objectives</a:t>
            </a:r>
            <a:endParaRPr lang="en-US" sz="2600" dirty="0"/>
          </a:p>
        </p:txBody>
      </p:sp>
      <p:sp>
        <p:nvSpPr>
          <p:cNvPr id="4" name="Shape 2"/>
          <p:cNvSpPr/>
          <p:nvPr/>
        </p:nvSpPr>
        <p:spPr>
          <a:xfrm>
            <a:off x="365760" y="1143000"/>
            <a:ext cx="3931920" cy="1554480"/>
          </a:xfrm>
          <a:prstGeom prst="roundRect">
            <a:avLst>
              <a:gd name="adj" fmla="val 4706"/>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365760" y="1143000"/>
            <a:ext cx="3931920" cy="54864"/>
          </a:xfrm>
          <a:prstGeom prst="roundRect">
            <a:avLst>
              <a:gd name="adj" fmla="val 133333"/>
            </a:avLst>
          </a:prstGeom>
          <a:solidFill>
            <a:srgbClr val="EA580C"/>
          </a:solidFill>
        </p:spPr>
        <p:txBody>
          <a:bodyPr/>
          <a:lstStyle/>
          <a:p>
            <a:endParaRPr lang="en-IN"/>
          </a:p>
        </p:txBody>
      </p:sp>
      <p:sp>
        <p:nvSpPr>
          <p:cNvPr id="6" name="Text 4"/>
          <p:cNvSpPr/>
          <p:nvPr/>
        </p:nvSpPr>
        <p:spPr>
          <a:xfrm>
            <a:off x="502920" y="1234440"/>
            <a:ext cx="3657600" cy="320040"/>
          </a:xfrm>
          <a:prstGeom prst="rect">
            <a:avLst/>
          </a:prstGeom>
          <a:noFill/>
        </p:spPr>
        <p:txBody>
          <a:bodyPr wrap="square" rtlCol="0" anchor="ctr"/>
          <a:lstStyle/>
          <a:p>
            <a:pPr marL="0" indent="0">
              <a:buNone/>
            </a:pPr>
            <a:r>
              <a:rPr lang="en-US" sz="1200" b="1" dirty="0">
                <a:solidFill>
                  <a:srgbClr val="EA580C"/>
                </a:solidFill>
                <a:latin typeface="Calibri" panose="020F0502020204030204" pitchFamily="34" charset="0"/>
                <a:ea typeface="Calibri" panose="020F0502020204030204" pitchFamily="34" charset="-122"/>
                <a:cs typeface="Calibri" panose="020F0502020204030204" pitchFamily="34" charset="-120"/>
              </a:rPr>
              <a:t>The Problem</a:t>
            </a:r>
            <a:endParaRPr lang="en-US" sz="1200" dirty="0"/>
          </a:p>
        </p:txBody>
      </p:sp>
      <p:sp>
        <p:nvSpPr>
          <p:cNvPr id="7" name="Text 5"/>
          <p:cNvSpPr/>
          <p:nvPr/>
        </p:nvSpPr>
        <p:spPr>
          <a:xfrm>
            <a:off x="502920" y="1554480"/>
            <a:ext cx="3657600" cy="1051560"/>
          </a:xfrm>
          <a:prstGeom prst="rect">
            <a:avLst/>
          </a:prstGeom>
          <a:noFill/>
        </p:spPr>
        <p:txBody>
          <a:bodyPr wrap="square" rtlCol="0" anchor="t"/>
          <a:lstStyle/>
          <a:p>
            <a:pPr marL="0" indent="0">
              <a:buNone/>
            </a:pPr>
            <a:r>
              <a:rPr lang="en-US" altLang="en-US" sz="1100" dirty="0"/>
              <a:t>Manual analysis of student academic data is time-consuming and inefficient; </a:t>
            </a:r>
            <a:endParaRPr lang="en-US" altLang="en-US" sz="1100" dirty="0"/>
          </a:p>
          <a:p>
            <a:pPr marL="0" indent="0">
              <a:buNone/>
            </a:pPr>
            <a:endParaRPr lang="en-US" altLang="en-US" sz="1100" dirty="0"/>
          </a:p>
          <a:p>
            <a:pPr marL="0" indent="0">
              <a:buNone/>
            </a:pPr>
            <a:r>
              <a:rPr lang="en-IN" altLang="en-US" sz="1100" dirty="0"/>
              <a:t>T</a:t>
            </a:r>
            <a:r>
              <a:rPr lang="en-US" altLang="en-US" sz="1100" dirty="0"/>
              <a:t>his project provides an interactive dashboard to simplify data analysis and reveal performance trends</a:t>
            </a:r>
            <a:endParaRPr lang="en-US" altLang="en-US" sz="1100" dirty="0"/>
          </a:p>
        </p:txBody>
      </p:sp>
      <p:sp>
        <p:nvSpPr>
          <p:cNvPr id="8" name="Shape 6"/>
          <p:cNvSpPr/>
          <p:nvPr/>
        </p:nvSpPr>
        <p:spPr>
          <a:xfrm>
            <a:off x="4572000" y="1143000"/>
            <a:ext cx="3931920" cy="1554480"/>
          </a:xfrm>
          <a:prstGeom prst="roundRect">
            <a:avLst>
              <a:gd name="adj" fmla="val 4706"/>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9" name="Shape 7"/>
          <p:cNvSpPr/>
          <p:nvPr/>
        </p:nvSpPr>
        <p:spPr>
          <a:xfrm>
            <a:off x="4572000" y="1143000"/>
            <a:ext cx="3931920" cy="54864"/>
          </a:xfrm>
          <a:prstGeom prst="roundRect">
            <a:avLst>
              <a:gd name="adj" fmla="val 133333"/>
            </a:avLst>
          </a:prstGeom>
          <a:solidFill>
            <a:srgbClr val="0D9488"/>
          </a:solidFill>
        </p:spPr>
        <p:txBody>
          <a:bodyPr/>
          <a:lstStyle/>
          <a:p>
            <a:endParaRPr lang="en-IN"/>
          </a:p>
        </p:txBody>
      </p:sp>
      <p:sp>
        <p:nvSpPr>
          <p:cNvPr id="10" name="Text 8"/>
          <p:cNvSpPr/>
          <p:nvPr/>
        </p:nvSpPr>
        <p:spPr>
          <a:xfrm>
            <a:off x="4709160" y="1234440"/>
            <a:ext cx="3657600" cy="320040"/>
          </a:xfrm>
          <a:prstGeom prst="rect">
            <a:avLst/>
          </a:prstGeom>
          <a:noFill/>
        </p:spPr>
        <p:txBody>
          <a:bodyPr wrap="square" rtlCol="0" anchor="ctr"/>
          <a:lstStyle/>
          <a:p>
            <a:pPr marL="0" indent="0">
              <a:buNone/>
            </a:pPr>
            <a:r>
              <a:rPr lang="en-US" sz="1200" b="1" dirty="0">
                <a:solidFill>
                  <a:srgbClr val="0D9488"/>
                </a:solidFill>
                <a:latin typeface="Calibri" panose="020F0502020204030204" pitchFamily="34" charset="0"/>
                <a:ea typeface="Calibri" panose="020F0502020204030204" pitchFamily="34" charset="-122"/>
                <a:cs typeface="Calibri" panose="020F0502020204030204" pitchFamily="34" charset="-120"/>
              </a:rPr>
              <a:t>Target User</a:t>
            </a:r>
            <a:endParaRPr lang="en-US" sz="1200" dirty="0"/>
          </a:p>
        </p:txBody>
      </p:sp>
      <p:sp>
        <p:nvSpPr>
          <p:cNvPr id="11" name="Text 9"/>
          <p:cNvSpPr/>
          <p:nvPr/>
        </p:nvSpPr>
        <p:spPr>
          <a:xfrm>
            <a:off x="4709160" y="1554480"/>
            <a:ext cx="3657600" cy="1051560"/>
          </a:xfrm>
          <a:prstGeom prst="rect">
            <a:avLst/>
          </a:prstGeom>
          <a:noFill/>
        </p:spPr>
        <p:txBody>
          <a:bodyPr wrap="square" rtlCol="0" anchor="t"/>
          <a:lstStyle/>
          <a:p>
            <a:pPr marL="0" indent="0">
              <a:buNone/>
            </a:pPr>
            <a:r>
              <a:rPr lang="en-US" altLang="en-US" sz="1100" dirty="0"/>
              <a:t>Students, teachers, and academic staff who need an easy way to analyze student data and understand academic performance through interactive visualizations.</a:t>
            </a:r>
            <a:endParaRPr lang="en-US" altLang="en-US" sz="1100" dirty="0"/>
          </a:p>
        </p:txBody>
      </p:sp>
      <p:sp>
        <p:nvSpPr>
          <p:cNvPr id="12" name="Text 10"/>
          <p:cNvSpPr/>
          <p:nvPr/>
        </p:nvSpPr>
        <p:spPr>
          <a:xfrm>
            <a:off x="365760" y="2834640"/>
            <a:ext cx="8229600" cy="320040"/>
          </a:xfrm>
          <a:prstGeom prst="rect">
            <a:avLst/>
          </a:prstGeom>
          <a:noFill/>
        </p:spPr>
        <p:txBody>
          <a:bodyPr wrap="square" rtlCol="0" anchor="ctr"/>
          <a:lstStyle/>
          <a:p>
            <a:pPr marL="0" indent="0">
              <a:buNone/>
            </a:pPr>
            <a:r>
              <a:rPr lang="en-US" sz="1400" b="1" dirty="0">
                <a:solidFill>
                  <a:srgbClr val="1B3A6B"/>
                </a:solidFill>
                <a:latin typeface="Calibri" panose="020F0502020204030204" pitchFamily="34" charset="0"/>
                <a:ea typeface="Calibri" panose="020F0502020204030204" pitchFamily="34" charset="-122"/>
                <a:cs typeface="Calibri" panose="020F0502020204030204" pitchFamily="34" charset="-120"/>
              </a:rPr>
              <a:t>Project Objectives</a:t>
            </a:r>
            <a:endParaRPr lang="en-US" sz="1400" dirty="0"/>
          </a:p>
        </p:txBody>
      </p:sp>
      <p:sp>
        <p:nvSpPr>
          <p:cNvPr id="13" name="Shape 11"/>
          <p:cNvSpPr/>
          <p:nvPr/>
        </p:nvSpPr>
        <p:spPr>
          <a:xfrm>
            <a:off x="365760" y="3310128"/>
            <a:ext cx="201168" cy="201168"/>
          </a:xfrm>
          <a:prstGeom prst="ellipse">
            <a:avLst/>
          </a:prstGeom>
          <a:solidFill>
            <a:srgbClr val="2563EB"/>
          </a:solidFill>
        </p:spPr>
        <p:txBody>
          <a:bodyPr/>
          <a:lstStyle/>
          <a:p>
            <a:endParaRPr lang="en-IN"/>
          </a:p>
        </p:txBody>
      </p:sp>
      <p:sp>
        <p:nvSpPr>
          <p:cNvPr id="14" name="Text 12"/>
          <p:cNvSpPr/>
          <p:nvPr/>
        </p:nvSpPr>
        <p:spPr>
          <a:xfrm>
            <a:off x="640080" y="3261360"/>
            <a:ext cx="3931920" cy="32004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Connect &amp; clean the raw dataset using Power Query</a:t>
            </a:r>
            <a:endParaRPr lang="en-US" sz="1150" dirty="0"/>
          </a:p>
        </p:txBody>
      </p:sp>
      <p:sp>
        <p:nvSpPr>
          <p:cNvPr id="15" name="Shape 13"/>
          <p:cNvSpPr/>
          <p:nvPr/>
        </p:nvSpPr>
        <p:spPr>
          <a:xfrm>
            <a:off x="365760" y="3657600"/>
            <a:ext cx="201168" cy="201168"/>
          </a:xfrm>
          <a:prstGeom prst="ellipse">
            <a:avLst/>
          </a:prstGeom>
          <a:solidFill>
            <a:srgbClr val="2563EB"/>
          </a:solidFill>
        </p:spPr>
        <p:txBody>
          <a:bodyPr/>
          <a:lstStyle/>
          <a:p>
            <a:endParaRPr lang="en-IN"/>
          </a:p>
        </p:txBody>
      </p:sp>
      <p:sp>
        <p:nvSpPr>
          <p:cNvPr id="16" name="Text 14"/>
          <p:cNvSpPr/>
          <p:nvPr/>
        </p:nvSpPr>
        <p:spPr>
          <a:xfrm>
            <a:off x="640080" y="3593592"/>
            <a:ext cx="3931920" cy="32004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Build a star schema data model with correct relationships</a:t>
            </a:r>
            <a:endParaRPr lang="en-US" sz="1150" dirty="0"/>
          </a:p>
        </p:txBody>
      </p:sp>
      <p:sp>
        <p:nvSpPr>
          <p:cNvPr id="17" name="Shape 15"/>
          <p:cNvSpPr/>
          <p:nvPr/>
        </p:nvSpPr>
        <p:spPr>
          <a:xfrm>
            <a:off x="365760" y="4005072"/>
            <a:ext cx="201168" cy="201168"/>
          </a:xfrm>
          <a:prstGeom prst="ellipse">
            <a:avLst/>
          </a:prstGeom>
          <a:solidFill>
            <a:srgbClr val="2563EB"/>
          </a:solidFill>
        </p:spPr>
        <p:txBody>
          <a:bodyPr/>
          <a:lstStyle/>
          <a:p>
            <a:endParaRPr lang="en-IN"/>
          </a:p>
        </p:txBody>
      </p:sp>
      <p:sp>
        <p:nvSpPr>
          <p:cNvPr id="18" name="Text 16"/>
          <p:cNvSpPr/>
          <p:nvPr/>
        </p:nvSpPr>
        <p:spPr>
          <a:xfrm>
            <a:off x="640080" y="3941064"/>
            <a:ext cx="3931920" cy="32004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Create at least 5 meaningful DAX measures</a:t>
            </a:r>
            <a:endParaRPr lang="en-US" sz="1150" dirty="0"/>
          </a:p>
        </p:txBody>
      </p:sp>
      <p:sp>
        <p:nvSpPr>
          <p:cNvPr id="19" name="Shape 17"/>
          <p:cNvSpPr/>
          <p:nvPr/>
        </p:nvSpPr>
        <p:spPr>
          <a:xfrm>
            <a:off x="4937760" y="3310128"/>
            <a:ext cx="201168" cy="201168"/>
          </a:xfrm>
          <a:prstGeom prst="ellipse">
            <a:avLst/>
          </a:prstGeom>
          <a:solidFill>
            <a:srgbClr val="2563EB"/>
          </a:solidFill>
        </p:spPr>
        <p:txBody>
          <a:bodyPr/>
          <a:lstStyle/>
          <a:p>
            <a:endParaRPr lang="en-IN"/>
          </a:p>
        </p:txBody>
      </p:sp>
      <p:sp>
        <p:nvSpPr>
          <p:cNvPr id="20" name="Text 18"/>
          <p:cNvSpPr/>
          <p:nvPr/>
        </p:nvSpPr>
        <p:spPr>
          <a:xfrm>
            <a:off x="5212080" y="3246120"/>
            <a:ext cx="3931920" cy="32004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Design an interactive multi-page dashboard with 5+ visual types</a:t>
            </a:r>
            <a:endParaRPr lang="en-US" sz="1150" dirty="0"/>
          </a:p>
        </p:txBody>
      </p:sp>
      <p:sp>
        <p:nvSpPr>
          <p:cNvPr id="21" name="Shape 19"/>
          <p:cNvSpPr/>
          <p:nvPr/>
        </p:nvSpPr>
        <p:spPr>
          <a:xfrm>
            <a:off x="4937760" y="3657600"/>
            <a:ext cx="201168" cy="201168"/>
          </a:xfrm>
          <a:prstGeom prst="ellipse">
            <a:avLst/>
          </a:prstGeom>
          <a:solidFill>
            <a:srgbClr val="2563EB"/>
          </a:solidFill>
        </p:spPr>
        <p:txBody>
          <a:bodyPr/>
          <a:lstStyle/>
          <a:p>
            <a:endParaRPr lang="en-IN"/>
          </a:p>
        </p:txBody>
      </p:sp>
      <p:sp>
        <p:nvSpPr>
          <p:cNvPr id="22" name="Text 20"/>
          <p:cNvSpPr/>
          <p:nvPr/>
        </p:nvSpPr>
        <p:spPr>
          <a:xfrm>
            <a:off x="5212080" y="3593592"/>
            <a:ext cx="3931920" cy="32004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Publish the final report to Power BI Service</a:t>
            </a:r>
            <a:endParaRPr lang="en-US" sz="1150" dirty="0"/>
          </a:p>
        </p:txBody>
      </p:sp>
      <p:sp>
        <p:nvSpPr>
          <p:cNvPr id="23" name="Text 21"/>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64748B"/>
                </a:solidFill>
              </a:rPr>
              <a:t>4 / 14</a:t>
            </a:r>
            <a:endParaRPr lang="en-US" sz="900" dirty="0"/>
          </a:p>
        </p:txBody>
      </p:sp>
      <p:pic>
        <p:nvPicPr>
          <p:cNvPr id="25" name="Picture 24"/>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p:spPr>
        <p:txBody>
          <a:bodyPr/>
          <a:lstStyle/>
          <a:p>
            <a:endParaRPr lang="en-IN"/>
          </a:p>
        </p:txBody>
      </p:sp>
      <p:sp>
        <p:nvSpPr>
          <p:cNvPr id="3" name="Text 1"/>
          <p:cNvSpPr/>
          <p:nvPr/>
        </p:nvSpPr>
        <p:spPr>
          <a:xfrm>
            <a:off x="457200" y="1069340"/>
            <a:ext cx="8229600" cy="822960"/>
          </a:xfrm>
          <a:prstGeom prst="rect">
            <a:avLst/>
          </a:prstGeom>
          <a:noFill/>
        </p:spPr>
        <p:txBody>
          <a:bodyPr wrap="square" rtlCol="0" anchor="ctr"/>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02  Dataset Overview</a:t>
            </a:r>
            <a:endParaRPr lang="en-US" sz="3600" dirty="0"/>
          </a:p>
        </p:txBody>
      </p:sp>
      <p:sp>
        <p:nvSpPr>
          <p:cNvPr id="4" name="Text 2"/>
          <p:cNvSpPr/>
          <p:nvPr/>
        </p:nvSpPr>
        <p:spPr>
          <a:xfrm>
            <a:off x="457200" y="1919605"/>
            <a:ext cx="8229600" cy="2026920"/>
          </a:xfrm>
          <a:prstGeom prst="rect">
            <a:avLst/>
          </a:prstGeom>
          <a:noFill/>
        </p:spPr>
        <p:txBody>
          <a:bodyPr wrap="square" rtlCol="0" anchor="ctr"/>
          <a:lstStyle/>
          <a:p>
            <a:pPr marL="0" indent="0">
              <a:buNone/>
            </a:pPr>
            <a:r>
              <a:rPr lang="en-US" altLang="en-US" sz="1600" dirty="0">
                <a:solidFill>
                  <a:schemeClr val="accent1"/>
                </a:solidFill>
              </a:rPr>
              <a:t>The project uses a self-created Excel dataset containing 500 student records and 25 columns. The dataset includes key fields such as Student_ID, Department, Semester, Attendance, Study Hours, Current CGPA, Previous CGPA, Screen Time, Class Participation, and Stress Level, which were used for analysis and dashboard creation</a:t>
            </a:r>
            <a:endParaRPr lang="en-US" altLang="en-US" sz="1600" dirty="0">
              <a:solidFill>
                <a:schemeClr val="accent1"/>
              </a:solidFill>
            </a:endParaRPr>
          </a:p>
        </p:txBody>
      </p:sp>
      <p:sp>
        <p:nvSpPr>
          <p:cNvPr id="5" name="Text 3"/>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93C5FD"/>
                </a:solidFill>
              </a:rPr>
              <a:t>5 / 14</a:t>
            </a:r>
            <a:endParaRPr lang="en-US" sz="900" dirty="0"/>
          </a:p>
        </p:txBody>
      </p:sp>
      <p:pic>
        <p:nvPicPr>
          <p:cNvPr id="7" name="Picture 6"/>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p:spPr>
        <p:txBody>
          <a:bodyPr/>
          <a:lstStyle/>
          <a:p>
            <a:endParaRPr lang="en-IN"/>
          </a:p>
        </p:txBody>
      </p:sp>
      <p:sp>
        <p:nvSpPr>
          <p:cNvPr id="3" name="Text 1"/>
          <p:cNvSpPr/>
          <p:nvPr/>
        </p:nvSpPr>
        <p:spPr>
          <a:xfrm>
            <a:off x="457200" y="594360"/>
            <a:ext cx="8229600" cy="457200"/>
          </a:xfrm>
          <a:prstGeom prst="rect">
            <a:avLst/>
          </a:prstGeom>
          <a:noFill/>
        </p:spPr>
        <p:txBody>
          <a:bodyPr wrap="square" rtlCol="0" anchor="ctr"/>
          <a:lstStyle/>
          <a:p>
            <a:pPr marL="0" indent="0">
              <a:buNone/>
            </a:pPr>
            <a:r>
              <a:rPr lang="en-US" sz="2600" b="1" dirty="0">
                <a:solidFill>
                  <a:srgbClr val="1B3A6B"/>
                </a:solidFill>
                <a:latin typeface="Cambria" panose="02040503050406030204" pitchFamily="34" charset="0"/>
                <a:ea typeface="Cambria" panose="02040503050406030204" pitchFamily="34" charset="-122"/>
                <a:cs typeface="Cambria" panose="02040503050406030204" pitchFamily="34" charset="-120"/>
              </a:rPr>
              <a:t>Dataset Overview</a:t>
            </a:r>
            <a:endParaRPr lang="en-US" sz="2600" dirty="0"/>
          </a:p>
        </p:txBody>
      </p:sp>
      <p:sp>
        <p:nvSpPr>
          <p:cNvPr id="4" name="Shape 2"/>
          <p:cNvSpPr/>
          <p:nvPr/>
        </p:nvSpPr>
        <p:spPr>
          <a:xfrm>
            <a:off x="365760" y="1097280"/>
            <a:ext cx="1920240"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5" name="Text 3"/>
          <p:cNvSpPr/>
          <p:nvPr/>
        </p:nvSpPr>
        <p:spPr>
          <a:xfrm>
            <a:off x="457200" y="1234440"/>
            <a:ext cx="1737360" cy="502920"/>
          </a:xfrm>
          <a:prstGeom prst="rect">
            <a:avLst/>
          </a:prstGeom>
          <a:noFill/>
        </p:spPr>
        <p:txBody>
          <a:bodyPr wrap="square" rtlCol="0" anchor="ctr"/>
          <a:lstStyle/>
          <a:p>
            <a:pPr marL="0" indent="0" algn="ctr">
              <a:buNone/>
            </a:pP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[Kaggle]</a:t>
            </a:r>
            <a:endParaRPr lang="en-US" sz="3000" dirty="0"/>
          </a:p>
        </p:txBody>
      </p:sp>
      <p:sp>
        <p:nvSpPr>
          <p:cNvPr id="6" name="Text 4"/>
          <p:cNvSpPr/>
          <p:nvPr/>
        </p:nvSpPr>
        <p:spPr>
          <a:xfrm>
            <a:off x="457200" y="1908048"/>
            <a:ext cx="1737360" cy="320040"/>
          </a:xfrm>
          <a:prstGeom prst="rect">
            <a:avLst/>
          </a:prstGeom>
          <a:noFill/>
        </p:spPr>
        <p:txBody>
          <a:bodyPr wrap="square" rtlCol="0" anchor="ctr"/>
          <a:lstStyle/>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Source</a:t>
            </a:r>
            <a:endParaRPr lang="en-US" sz="1000" dirty="0"/>
          </a:p>
        </p:txBody>
      </p:sp>
      <p:sp>
        <p:nvSpPr>
          <p:cNvPr id="7" name="Shape 5"/>
          <p:cNvSpPr/>
          <p:nvPr/>
        </p:nvSpPr>
        <p:spPr>
          <a:xfrm>
            <a:off x="2514600" y="1097280"/>
            <a:ext cx="1920240"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8" name="Text 6"/>
          <p:cNvSpPr/>
          <p:nvPr/>
        </p:nvSpPr>
        <p:spPr>
          <a:xfrm>
            <a:off x="2606040" y="1234440"/>
            <a:ext cx="1737360" cy="502920"/>
          </a:xfrm>
          <a:prstGeom prst="rect">
            <a:avLst/>
          </a:prstGeom>
          <a:noFill/>
        </p:spPr>
        <p:txBody>
          <a:bodyPr wrap="square" rtlCol="0" anchor="ctr"/>
          <a:lstStyle/>
          <a:p>
            <a:pPr marL="0" indent="0" algn="ctr">
              <a:buNone/>
            </a:pP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[Excel]</a:t>
            </a:r>
            <a:endParaRPr lang="en-US" sz="3000" dirty="0"/>
          </a:p>
        </p:txBody>
      </p:sp>
      <p:sp>
        <p:nvSpPr>
          <p:cNvPr id="9" name="Text 7"/>
          <p:cNvSpPr/>
          <p:nvPr/>
        </p:nvSpPr>
        <p:spPr>
          <a:xfrm>
            <a:off x="2606040" y="1862328"/>
            <a:ext cx="1737360" cy="320040"/>
          </a:xfrm>
          <a:prstGeom prst="rect">
            <a:avLst/>
          </a:prstGeom>
          <a:noFill/>
        </p:spPr>
        <p:txBody>
          <a:bodyPr wrap="square" rtlCol="0" anchor="ctr"/>
          <a:lstStyle/>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File Type</a:t>
            </a:r>
            <a:endParaRPr lang="en-US" sz="1000" dirty="0"/>
          </a:p>
        </p:txBody>
      </p:sp>
      <p:sp>
        <p:nvSpPr>
          <p:cNvPr id="10" name="Shape 8"/>
          <p:cNvSpPr/>
          <p:nvPr/>
        </p:nvSpPr>
        <p:spPr>
          <a:xfrm>
            <a:off x="4663440" y="1097280"/>
            <a:ext cx="1920240"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11" name="Text 9"/>
          <p:cNvSpPr/>
          <p:nvPr/>
        </p:nvSpPr>
        <p:spPr>
          <a:xfrm>
            <a:off x="4754880" y="1234440"/>
            <a:ext cx="1737360" cy="502920"/>
          </a:xfrm>
          <a:prstGeom prst="rect">
            <a:avLst/>
          </a:prstGeom>
          <a:noFill/>
        </p:spPr>
        <p:txBody>
          <a:bodyPr wrap="square" rtlCol="0" anchor="ctr"/>
          <a:lstStyle/>
          <a:p>
            <a:pPr marL="0" indent="0" algn="ctr">
              <a:buNone/>
            </a:pP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a:t>
            </a:r>
            <a:r>
              <a:rPr lang="en-IN" alt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5000</a:t>
            </a: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a:t>
            </a:r>
            <a:endParaRPr lang="en-US" sz="3000" dirty="0"/>
          </a:p>
        </p:txBody>
      </p:sp>
      <p:sp>
        <p:nvSpPr>
          <p:cNvPr id="12" name="Text 10"/>
          <p:cNvSpPr/>
          <p:nvPr/>
        </p:nvSpPr>
        <p:spPr>
          <a:xfrm>
            <a:off x="4754880" y="1869948"/>
            <a:ext cx="1737360" cy="320040"/>
          </a:xfrm>
          <a:prstGeom prst="rect">
            <a:avLst/>
          </a:prstGeom>
          <a:noFill/>
        </p:spPr>
        <p:txBody>
          <a:bodyPr wrap="square" rtlCol="0" anchor="ctr"/>
          <a:lstStyle/>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Rows</a:t>
            </a:r>
            <a:endParaRPr lang="en-US" sz="1000" dirty="0"/>
          </a:p>
        </p:txBody>
      </p:sp>
      <p:sp>
        <p:nvSpPr>
          <p:cNvPr id="13" name="Shape 11"/>
          <p:cNvSpPr/>
          <p:nvPr/>
        </p:nvSpPr>
        <p:spPr>
          <a:xfrm>
            <a:off x="6812280" y="1097280"/>
            <a:ext cx="1920240"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14" name="Text 12"/>
          <p:cNvSpPr/>
          <p:nvPr/>
        </p:nvSpPr>
        <p:spPr>
          <a:xfrm>
            <a:off x="6903720" y="1234440"/>
            <a:ext cx="1737360" cy="502920"/>
          </a:xfrm>
          <a:prstGeom prst="rect">
            <a:avLst/>
          </a:prstGeom>
          <a:noFill/>
        </p:spPr>
        <p:txBody>
          <a:bodyPr wrap="square" rtlCol="0" anchor="ctr"/>
          <a:lstStyle/>
          <a:p>
            <a:pPr marL="0" indent="0" algn="ctr">
              <a:buNone/>
            </a:pP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a:t>
            </a:r>
            <a:r>
              <a:rPr lang="en-IN" alt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35</a:t>
            </a:r>
            <a:r>
              <a:rPr lang="en-US" sz="3000" b="1" dirty="0">
                <a:solidFill>
                  <a:srgbClr val="1B3A6B"/>
                </a:solidFill>
                <a:latin typeface="Cambria" panose="02040503050406030204" pitchFamily="34" charset="0"/>
                <a:ea typeface="Cambria" panose="02040503050406030204" pitchFamily="34" charset="-122"/>
                <a:cs typeface="Cambria" panose="02040503050406030204" pitchFamily="34" charset="-120"/>
              </a:rPr>
              <a:t>]</a:t>
            </a:r>
            <a:endParaRPr lang="en-US" sz="3000" dirty="0"/>
          </a:p>
        </p:txBody>
      </p:sp>
      <p:sp>
        <p:nvSpPr>
          <p:cNvPr id="15" name="Text 13"/>
          <p:cNvSpPr/>
          <p:nvPr/>
        </p:nvSpPr>
        <p:spPr>
          <a:xfrm>
            <a:off x="6903720" y="1892808"/>
            <a:ext cx="1737360" cy="320040"/>
          </a:xfrm>
          <a:prstGeom prst="rect">
            <a:avLst/>
          </a:prstGeom>
          <a:noFill/>
        </p:spPr>
        <p:txBody>
          <a:bodyPr wrap="square" rtlCol="0" anchor="ctr"/>
          <a:lstStyle/>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Columns</a:t>
            </a:r>
            <a:endParaRPr lang="en-US" sz="1000" dirty="0"/>
          </a:p>
        </p:txBody>
      </p:sp>
      <p:sp>
        <p:nvSpPr>
          <p:cNvPr id="16" name="Text 14"/>
          <p:cNvSpPr/>
          <p:nvPr/>
        </p:nvSpPr>
        <p:spPr>
          <a:xfrm>
            <a:off x="365760" y="2377440"/>
            <a:ext cx="4572000" cy="320040"/>
          </a:xfrm>
          <a:prstGeom prst="rect">
            <a:avLst/>
          </a:prstGeom>
          <a:noFill/>
        </p:spPr>
        <p:txBody>
          <a:bodyPr wrap="square" rtlCol="0" anchor="ctr"/>
          <a:lstStyle/>
          <a:p>
            <a:pPr marL="0" indent="0">
              <a:buNone/>
            </a:pPr>
            <a:r>
              <a:rPr lang="en-US" sz="1300" b="1" dirty="0">
                <a:solidFill>
                  <a:srgbClr val="1B3A6B"/>
                </a:solidFill>
                <a:latin typeface="Calibri" panose="020F0502020204030204" pitchFamily="34" charset="0"/>
                <a:ea typeface="Calibri" panose="020F0502020204030204" pitchFamily="34" charset="-122"/>
                <a:cs typeface="Calibri" panose="020F0502020204030204" pitchFamily="34" charset="-120"/>
              </a:rPr>
              <a:t>Key Columns Used</a:t>
            </a:r>
            <a:endParaRPr lang="en-US" sz="1300" dirty="0"/>
          </a:p>
        </p:txBody>
      </p:sp>
      <p:graphicFrame>
        <p:nvGraphicFramePr>
          <p:cNvPr id="17" name="Table 0"/>
          <p:cNvGraphicFramePr>
            <a:graphicFrameLocks noGrp="1"/>
          </p:cNvGraphicFramePr>
          <p:nvPr>
            <p:custDataLst>
              <p:tags r:id="rId1"/>
            </p:custDataLst>
          </p:nvPr>
        </p:nvGraphicFramePr>
        <p:xfrm>
          <a:off x="365760" y="2705100"/>
          <a:ext cx="5029200" cy="1991995"/>
        </p:xfrm>
        <a:graphic>
          <a:graphicData uri="http://schemas.openxmlformats.org/drawingml/2006/table">
            <a:tbl>
              <a:tblPr/>
              <a:tblGrid>
                <a:gridCol w="2514600"/>
                <a:gridCol w="2514600"/>
              </a:tblGrid>
              <a:tr h="269240">
                <a:tc>
                  <a:txBody>
                    <a:bodyP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Column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Role in Dashboard</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6B"/>
                    </a:solidFill>
                  </a:tcPr>
                </a:tc>
              </a:tr>
              <a:tr h="319405">
                <a:tc>
                  <a:txBody>
                    <a:bodyPr/>
                    <a:lstStyle/>
                    <a:p>
                      <a:r>
                        <a:rPr lang="en-US" altLang="zh-CN" sz="1100"/>
                        <a:t>Column</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lang="en-US" altLang="zh-CN" sz="1100"/>
                        <a:t>Role in Dashboard</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3525">
                <a:tc>
                  <a:txBody>
                    <a:bodyPr/>
                    <a:lstStyle/>
                    <a:p>
                      <a:r>
                        <a:rPr lang="en-US" altLang="zh-CN" sz="1100"/>
                        <a:t>Student_ID</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r>
                        <a:rPr lang="en-US" altLang="zh-CN" sz="1100"/>
                        <a:t>Unique identifier for each student</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311785">
                <a:tc>
                  <a:txBody>
                    <a:bodyPr/>
                    <a:lstStyle/>
                    <a:p>
                      <a:r>
                        <a:rPr lang="en-US" altLang="zh-CN" sz="1100"/>
                        <a:t>Department</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lang="en-US" altLang="zh-CN" sz="1100"/>
                        <a:t>Compare performance across departments</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7020">
                <a:tc>
                  <a:txBody>
                    <a:bodyPr/>
                    <a:lstStyle/>
                    <a:p>
                      <a:r>
                        <a:rPr lang="en-US" altLang="zh-CN" sz="1100"/>
                        <a:t>Semester</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r>
                        <a:rPr lang="en-US" altLang="zh-CN" sz="1100"/>
                        <a:t>Analyze semester-wise performance</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271780">
                <a:tc>
                  <a:txBody>
                    <a:bodyPr/>
                    <a:lstStyle/>
                    <a:p>
                      <a:r>
                        <a:rPr lang="en-US" altLang="zh-CN" sz="1100"/>
                        <a:t>Gender</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lang="en-US" altLang="zh-CN" sz="1100"/>
                        <a:t>Gender-wise analysis</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240">
                <a:tc>
                  <a:txBody>
                    <a:bodyPr/>
                    <a:lstStyle/>
                    <a:p>
                      <a:r>
                        <a:rPr lang="en-US" altLang="zh-CN" sz="1100"/>
                        <a:t>Study_Hours</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r>
                        <a:rPr lang="en-US" altLang="zh-CN" sz="1100"/>
                        <a:t>Analyze study habits</a:t>
                      </a:r>
                      <a:endParaRPr lang="en-US" altLang="zh-CN" sz="1100"/>
                    </a:p>
                  </a:txBody>
                  <a:tcPr marL="0" marR="0" marT="0" marB="0" anchor="ctr" anchorCtr="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bl>
          </a:graphicData>
        </a:graphic>
      </p:graphicFrame>
      <p:sp>
        <p:nvSpPr>
          <p:cNvPr id="18" name="Text 15"/>
          <p:cNvSpPr/>
          <p:nvPr/>
        </p:nvSpPr>
        <p:spPr>
          <a:xfrm>
            <a:off x="5669280" y="2377440"/>
            <a:ext cx="3200400" cy="320040"/>
          </a:xfrm>
          <a:prstGeom prst="rect">
            <a:avLst/>
          </a:prstGeom>
          <a:noFill/>
        </p:spPr>
        <p:txBody>
          <a:bodyPr wrap="square" rtlCol="0" anchor="ctr"/>
          <a:lstStyle/>
          <a:p>
            <a:pPr marL="0" indent="0">
              <a:buNone/>
            </a:pPr>
            <a:r>
              <a:rPr lang="en-US" sz="1300" b="1" dirty="0">
                <a:solidFill>
                  <a:srgbClr val="1B3A6B"/>
                </a:solidFill>
                <a:latin typeface="Calibri" panose="020F0502020204030204" pitchFamily="34" charset="0"/>
                <a:ea typeface="Calibri" panose="020F0502020204030204" pitchFamily="34" charset="-122"/>
                <a:cs typeface="Calibri" panose="020F0502020204030204" pitchFamily="34" charset="-120"/>
              </a:rPr>
              <a:t>Data Quality Steps (Power Query)</a:t>
            </a:r>
            <a:endParaRPr lang="en-US" sz="1300" dirty="0"/>
          </a:p>
        </p:txBody>
      </p:sp>
      <p:sp>
        <p:nvSpPr>
          <p:cNvPr id="19" name="Shape 16"/>
          <p:cNvSpPr/>
          <p:nvPr/>
        </p:nvSpPr>
        <p:spPr>
          <a:xfrm>
            <a:off x="5669280" y="2743200"/>
            <a:ext cx="164592" cy="201168"/>
          </a:xfrm>
          <a:prstGeom prst="rect">
            <a:avLst/>
          </a:prstGeom>
          <a:solidFill>
            <a:srgbClr val="0D9488"/>
          </a:solidFill>
        </p:spPr>
        <p:txBody>
          <a:bodyPr/>
          <a:lstStyle/>
          <a:p>
            <a:endParaRPr lang="en-IN"/>
          </a:p>
        </p:txBody>
      </p:sp>
      <p:sp>
        <p:nvSpPr>
          <p:cNvPr id="20" name="Text 17"/>
          <p:cNvSpPr/>
          <p:nvPr/>
        </p:nvSpPr>
        <p:spPr>
          <a:xfrm>
            <a:off x="5925312" y="2724912"/>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Removed duplicate rows</a:t>
            </a:r>
            <a:endParaRPr lang="en-US" sz="1050" dirty="0"/>
          </a:p>
        </p:txBody>
      </p:sp>
      <p:sp>
        <p:nvSpPr>
          <p:cNvPr id="21" name="Shape 18"/>
          <p:cNvSpPr/>
          <p:nvPr/>
        </p:nvSpPr>
        <p:spPr>
          <a:xfrm>
            <a:off x="5669280" y="3090672"/>
            <a:ext cx="164592" cy="201168"/>
          </a:xfrm>
          <a:prstGeom prst="rect">
            <a:avLst/>
          </a:prstGeom>
          <a:solidFill>
            <a:srgbClr val="0D9488"/>
          </a:solidFill>
        </p:spPr>
        <p:txBody>
          <a:bodyPr/>
          <a:lstStyle/>
          <a:p>
            <a:endParaRPr lang="en-IN"/>
          </a:p>
        </p:txBody>
      </p:sp>
      <p:sp>
        <p:nvSpPr>
          <p:cNvPr id="22" name="Text 19"/>
          <p:cNvSpPr/>
          <p:nvPr/>
        </p:nvSpPr>
        <p:spPr>
          <a:xfrm>
            <a:off x="5925312" y="3072384"/>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Fixed null values in [column]</a:t>
            </a:r>
            <a:endParaRPr lang="en-US" sz="1050" dirty="0"/>
          </a:p>
        </p:txBody>
      </p:sp>
      <p:sp>
        <p:nvSpPr>
          <p:cNvPr id="23" name="Shape 20"/>
          <p:cNvSpPr/>
          <p:nvPr/>
        </p:nvSpPr>
        <p:spPr>
          <a:xfrm>
            <a:off x="5669280" y="3438144"/>
            <a:ext cx="164592" cy="201168"/>
          </a:xfrm>
          <a:prstGeom prst="rect">
            <a:avLst/>
          </a:prstGeom>
          <a:solidFill>
            <a:srgbClr val="0D9488"/>
          </a:solidFill>
        </p:spPr>
        <p:txBody>
          <a:bodyPr/>
          <a:lstStyle/>
          <a:p>
            <a:endParaRPr lang="en-IN"/>
          </a:p>
        </p:txBody>
      </p:sp>
      <p:sp>
        <p:nvSpPr>
          <p:cNvPr id="24" name="Text 21"/>
          <p:cNvSpPr/>
          <p:nvPr/>
        </p:nvSpPr>
        <p:spPr>
          <a:xfrm>
            <a:off x="5925312" y="3419856"/>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Changed data types (Date, Number)</a:t>
            </a:r>
            <a:endParaRPr lang="en-US" sz="1050" dirty="0"/>
          </a:p>
        </p:txBody>
      </p:sp>
      <p:sp>
        <p:nvSpPr>
          <p:cNvPr id="25" name="Shape 22"/>
          <p:cNvSpPr/>
          <p:nvPr/>
        </p:nvSpPr>
        <p:spPr>
          <a:xfrm>
            <a:off x="5669280" y="3785616"/>
            <a:ext cx="164592" cy="201168"/>
          </a:xfrm>
          <a:prstGeom prst="rect">
            <a:avLst/>
          </a:prstGeom>
          <a:solidFill>
            <a:srgbClr val="0D9488"/>
          </a:solidFill>
        </p:spPr>
        <p:txBody>
          <a:bodyPr/>
          <a:lstStyle/>
          <a:p>
            <a:endParaRPr lang="en-IN"/>
          </a:p>
        </p:txBody>
      </p:sp>
      <p:sp>
        <p:nvSpPr>
          <p:cNvPr id="26" name="Text 23"/>
          <p:cNvSpPr/>
          <p:nvPr/>
        </p:nvSpPr>
        <p:spPr>
          <a:xfrm>
            <a:off x="5925312" y="3767328"/>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Renamed columns for clarity</a:t>
            </a:r>
            <a:endParaRPr lang="en-US" sz="1050" dirty="0"/>
          </a:p>
        </p:txBody>
      </p:sp>
      <p:sp>
        <p:nvSpPr>
          <p:cNvPr id="27" name="Shape 24"/>
          <p:cNvSpPr/>
          <p:nvPr/>
        </p:nvSpPr>
        <p:spPr>
          <a:xfrm>
            <a:off x="5669280" y="4133088"/>
            <a:ext cx="164592" cy="201168"/>
          </a:xfrm>
          <a:prstGeom prst="rect">
            <a:avLst/>
          </a:prstGeom>
          <a:solidFill>
            <a:srgbClr val="0D9488"/>
          </a:solidFill>
        </p:spPr>
        <p:txBody>
          <a:bodyPr/>
          <a:lstStyle/>
          <a:p>
            <a:endParaRPr lang="en-IN"/>
          </a:p>
        </p:txBody>
      </p:sp>
      <p:sp>
        <p:nvSpPr>
          <p:cNvPr id="28" name="Text 25"/>
          <p:cNvSpPr/>
          <p:nvPr/>
        </p:nvSpPr>
        <p:spPr>
          <a:xfrm>
            <a:off x="5925312" y="4114800"/>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Filtered out [cancelled/test] rows</a:t>
            </a:r>
            <a:endParaRPr lang="en-US" sz="1050" dirty="0"/>
          </a:p>
        </p:txBody>
      </p:sp>
      <p:sp>
        <p:nvSpPr>
          <p:cNvPr id="29" name="Shape 26"/>
          <p:cNvSpPr/>
          <p:nvPr/>
        </p:nvSpPr>
        <p:spPr>
          <a:xfrm>
            <a:off x="5669280" y="4480560"/>
            <a:ext cx="164592" cy="201168"/>
          </a:xfrm>
          <a:prstGeom prst="rect">
            <a:avLst/>
          </a:prstGeom>
          <a:solidFill>
            <a:srgbClr val="0D9488"/>
          </a:solidFill>
        </p:spPr>
        <p:txBody>
          <a:bodyPr/>
          <a:lstStyle/>
          <a:p>
            <a:endParaRPr lang="en-IN"/>
          </a:p>
        </p:txBody>
      </p:sp>
      <p:sp>
        <p:nvSpPr>
          <p:cNvPr id="30" name="Text 27"/>
          <p:cNvSpPr/>
          <p:nvPr/>
        </p:nvSpPr>
        <p:spPr>
          <a:xfrm>
            <a:off x="5925312" y="4462272"/>
            <a:ext cx="3017520" cy="32004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[Add your steps here]</a:t>
            </a:r>
            <a:endParaRPr lang="en-US" sz="1050" dirty="0"/>
          </a:p>
        </p:txBody>
      </p:sp>
      <p:sp>
        <p:nvSpPr>
          <p:cNvPr id="31" name="Text 28"/>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64748B"/>
                </a:solidFill>
              </a:rPr>
              <a:t>6 / 14</a:t>
            </a:r>
            <a:endParaRPr lang="en-US" sz="900" dirty="0"/>
          </a:p>
        </p:txBody>
      </p:sp>
      <p:pic>
        <p:nvPicPr>
          <p:cNvPr id="33" name="Picture 32"/>
          <p:cNvPicPr>
            <a:picLocks noChangeAspect="1"/>
          </p:cNvPicPr>
          <p:nvPr/>
        </p:nvPicPr>
        <p:blipFill>
          <a:blip r:embed="rId2"/>
          <a:stretch>
            <a:fillRect/>
          </a:stretch>
        </p:blipFill>
        <p:spPr>
          <a:xfrm>
            <a:off x="0" y="8721"/>
            <a:ext cx="2151088" cy="4513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p:spPr>
        <p:txBody>
          <a:bodyPr/>
          <a:lstStyle/>
          <a:p>
            <a:endParaRPr lang="en-IN"/>
          </a:p>
        </p:txBody>
      </p:sp>
      <p:sp>
        <p:nvSpPr>
          <p:cNvPr id="3" name="Text 1"/>
          <p:cNvSpPr/>
          <p:nvPr/>
        </p:nvSpPr>
        <p:spPr>
          <a:xfrm>
            <a:off x="457200" y="1203960"/>
            <a:ext cx="8229600" cy="822960"/>
          </a:xfrm>
          <a:prstGeom prst="rect">
            <a:avLst/>
          </a:prstGeom>
          <a:noFill/>
        </p:spPr>
        <p:txBody>
          <a:bodyPr wrap="square" rtlCol="0" anchor="ctr"/>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03  Data Model</a:t>
            </a:r>
            <a:endParaRPr lang="en-US" sz="3600" dirty="0"/>
          </a:p>
        </p:txBody>
      </p:sp>
      <p:sp>
        <p:nvSpPr>
          <p:cNvPr id="4" name="Text 2"/>
          <p:cNvSpPr/>
          <p:nvPr/>
        </p:nvSpPr>
        <p:spPr>
          <a:xfrm>
            <a:off x="457200" y="2750820"/>
            <a:ext cx="8229600" cy="457200"/>
          </a:xfrm>
          <a:prstGeom prst="rect">
            <a:avLst/>
          </a:prstGeom>
          <a:noFill/>
        </p:spPr>
        <p:txBody>
          <a:bodyPr wrap="square" rtlCol="0" anchor="ctr"/>
          <a:lstStyle/>
          <a:p>
            <a:pPr marL="0" indent="0">
              <a:buNone/>
            </a:pPr>
            <a:endPar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600" dirty="0"/>
          </a:p>
          <a:p>
            <a:pPr marL="0" indent="0">
              <a:buNone/>
            </a:pPr>
            <a:r>
              <a:rPr lang="en-US" altLang="en-US" sz="1600" dirty="0">
                <a:solidFill>
                  <a:srgbClr val="00B0F0"/>
                </a:solidFill>
              </a:rPr>
              <a:t>Microsoft Excel (cleaned_student_data.xlsx)</a:t>
            </a:r>
            <a:endParaRPr lang="en-US" altLang="en-US" sz="1600" dirty="0">
              <a:solidFill>
                <a:srgbClr val="00B0F0"/>
              </a:solidFill>
            </a:endParaRPr>
          </a:p>
          <a:p>
            <a:pPr marL="0" indent="0">
              <a:buNone/>
            </a:pPr>
            <a:endParaRPr lang="en-US" altLang="en-US" sz="1600" dirty="0">
              <a:solidFill>
                <a:srgbClr val="00B0F0"/>
              </a:solidFill>
            </a:endParaRPr>
          </a:p>
          <a:p>
            <a:pPr marL="0" indent="0">
              <a:buNone/>
            </a:pPr>
            <a:r>
              <a:rPr lang="en-US" altLang="en-US" sz="1600" dirty="0">
                <a:solidFill>
                  <a:srgbClr val="00B0F0"/>
                </a:solidFill>
              </a:rPr>
              <a:t>Data Model Type</a:t>
            </a:r>
            <a:endParaRPr lang="en-US" altLang="en-US" sz="1600" dirty="0">
              <a:solidFill>
                <a:srgbClr val="00B0F0"/>
              </a:solidFill>
            </a:endParaRPr>
          </a:p>
          <a:p>
            <a:pPr marL="0" indent="0">
              <a:buNone/>
            </a:pPr>
            <a:r>
              <a:rPr lang="en-US" altLang="en-US" sz="1600" dirty="0">
                <a:solidFill>
                  <a:srgbClr val="00B0F0"/>
                </a:solidFill>
              </a:rPr>
              <a:t>Single Table Data Model</a:t>
            </a:r>
            <a:endParaRPr lang="en-US" altLang="en-US" sz="1600" dirty="0">
              <a:solidFill>
                <a:srgbClr val="00B0F0"/>
              </a:solidFill>
            </a:endParaRPr>
          </a:p>
          <a:p>
            <a:pPr marL="0" indent="0">
              <a:buNone/>
            </a:pPr>
            <a:r>
              <a:rPr lang="en-US" altLang="en-US" sz="1600" dirty="0">
                <a:solidFill>
                  <a:srgbClr val="00B0F0"/>
                </a:solidFill>
              </a:rPr>
              <a:t>No relationships between multiple tables are required</a:t>
            </a:r>
            <a:endParaRPr lang="en-US" altLang="en-US" sz="1600" dirty="0">
              <a:solidFill>
                <a:srgbClr val="00B0F0"/>
              </a:solidFill>
            </a:endParaRPr>
          </a:p>
          <a:p>
            <a:pPr marL="0" indent="0">
              <a:buNone/>
            </a:pPr>
            <a:endParaRPr lang="en-US" altLang="en-US" sz="1600" dirty="0">
              <a:solidFill>
                <a:srgbClr val="00B0F0"/>
              </a:solidFill>
            </a:endParaRPr>
          </a:p>
          <a:p>
            <a:pPr marL="0" indent="0">
              <a:buNone/>
            </a:pPr>
            <a:r>
              <a:rPr lang="en-US" altLang="en-US" sz="1600" dirty="0">
                <a:solidFill>
                  <a:srgbClr val="00B0F0"/>
                </a:solidFill>
              </a:rPr>
              <a:t>Student Performance Dataset</a:t>
            </a:r>
            <a:endParaRPr lang="en-US" altLang="en-US" sz="1600" dirty="0">
              <a:solidFill>
                <a:srgbClr val="00B0F0"/>
              </a:solidFill>
            </a:endParaRPr>
          </a:p>
          <a:p>
            <a:pPr marL="0" indent="0">
              <a:buNone/>
            </a:pPr>
            <a:r>
              <a:rPr lang="en-US" altLang="en-US" sz="1600" dirty="0">
                <a:solidFill>
                  <a:srgbClr val="00B0F0"/>
                </a:solidFill>
              </a:rPr>
              <a:t>500</a:t>
            </a:r>
            <a:r>
              <a:rPr lang="en-IN" altLang="en-US" sz="1600" dirty="0">
                <a:solidFill>
                  <a:srgbClr val="00B0F0"/>
                </a:solidFill>
              </a:rPr>
              <a:t>0</a:t>
            </a:r>
            <a:r>
              <a:rPr lang="en-US" altLang="en-US" sz="1600" dirty="0">
                <a:solidFill>
                  <a:srgbClr val="00B0F0"/>
                </a:solidFill>
              </a:rPr>
              <a:t> Student Records</a:t>
            </a:r>
            <a:endParaRPr lang="en-US" altLang="en-US" sz="1600" dirty="0">
              <a:solidFill>
                <a:srgbClr val="00B0F0"/>
              </a:solidFill>
            </a:endParaRPr>
          </a:p>
          <a:p>
            <a:pPr marL="0" indent="0">
              <a:buNone/>
            </a:pPr>
            <a:r>
              <a:rPr lang="en-US" altLang="en-US" sz="1600" dirty="0">
                <a:solidFill>
                  <a:srgbClr val="00B0F0"/>
                </a:solidFill>
              </a:rPr>
              <a:t>25 Attributes (Columns)</a:t>
            </a:r>
            <a:endParaRPr lang="en-US" altLang="en-US" sz="1600" dirty="0">
              <a:solidFill>
                <a:srgbClr val="00B0F0"/>
              </a:solidFill>
            </a:endParaRPr>
          </a:p>
        </p:txBody>
      </p:sp>
      <p:sp>
        <p:nvSpPr>
          <p:cNvPr id="5" name="Text 3"/>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93C5FD"/>
                </a:solidFill>
              </a:rPr>
              <a:t>7 / 14</a:t>
            </a:r>
            <a:endParaRPr lang="en-US" sz="900" dirty="0"/>
          </a:p>
        </p:txBody>
      </p:sp>
      <p:pic>
        <p:nvPicPr>
          <p:cNvPr id="7" name="Picture 6"/>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p:spPr>
        <p:txBody>
          <a:bodyPr/>
          <a:lstStyle/>
          <a:p>
            <a:endParaRPr lang="en-IN"/>
          </a:p>
        </p:txBody>
      </p:sp>
      <p:sp>
        <p:nvSpPr>
          <p:cNvPr id="3" name="Text 1"/>
          <p:cNvSpPr/>
          <p:nvPr/>
        </p:nvSpPr>
        <p:spPr>
          <a:xfrm>
            <a:off x="457200" y="681990"/>
            <a:ext cx="8229600" cy="822960"/>
          </a:xfrm>
          <a:prstGeom prst="rect">
            <a:avLst/>
          </a:prstGeom>
          <a:noFill/>
        </p:spPr>
        <p:txBody>
          <a:bodyPr wrap="square" rtlCol="0" anchor="ctr"/>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04  Dashboard Walkthrough</a:t>
            </a:r>
            <a:endParaRPr lang="en-US" sz="3600" dirty="0"/>
          </a:p>
        </p:txBody>
      </p:sp>
      <p:sp>
        <p:nvSpPr>
          <p:cNvPr id="4" name="Text 2"/>
          <p:cNvSpPr/>
          <p:nvPr/>
        </p:nvSpPr>
        <p:spPr>
          <a:xfrm>
            <a:off x="457200" y="1616075"/>
            <a:ext cx="8229600" cy="457200"/>
          </a:xfrm>
          <a:prstGeom prst="rect">
            <a:avLst/>
          </a:prstGeom>
          <a:noFill/>
        </p:spPr>
        <p:txBody>
          <a:bodyPr wrap="square" rtlCol="0" anchor="ctr"/>
          <a:lstStyle/>
          <a:p>
            <a:pPr marL="0" indent="0">
              <a:buNone/>
            </a:pPr>
            <a:r>
              <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rPr>
              <a:t>Pages, visuals, and interactivity</a:t>
            </a:r>
            <a:endPar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600" dirty="0"/>
          </a:p>
        </p:txBody>
      </p:sp>
      <p:sp>
        <p:nvSpPr>
          <p:cNvPr id="5" name="Text 3"/>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93C5FD"/>
                </a:solidFill>
              </a:rPr>
              <a:t>11 / 14</a:t>
            </a:r>
            <a:endParaRPr lang="en-US" sz="900" dirty="0"/>
          </a:p>
        </p:txBody>
      </p:sp>
      <p:pic>
        <p:nvPicPr>
          <p:cNvPr id="7" name="Picture 6"/>
          <p:cNvPicPr>
            <a:picLocks noChangeAspect="1"/>
          </p:cNvPicPr>
          <p:nvPr/>
        </p:nvPicPr>
        <p:blipFill>
          <a:blip r:embed="rId1"/>
          <a:stretch>
            <a:fillRect/>
          </a:stretch>
        </p:blipFill>
        <p:spPr>
          <a:xfrm>
            <a:off x="82296" y="48627"/>
            <a:ext cx="2151088" cy="451386"/>
          </a:xfrm>
          <a:prstGeom prst="rect">
            <a:avLst/>
          </a:prstGeom>
        </p:spPr>
      </p:pic>
      <p:sp>
        <p:nvSpPr>
          <p:cNvPr id="6" name="Text Box 5"/>
          <p:cNvSpPr txBox="1"/>
          <p:nvPr/>
        </p:nvSpPr>
        <p:spPr>
          <a:xfrm>
            <a:off x="565150" y="3108960"/>
            <a:ext cx="3048000" cy="1694815"/>
          </a:xfrm>
          <a:prstGeom prst="rect">
            <a:avLst/>
          </a:prstGeom>
          <a:noFill/>
        </p:spPr>
        <p:txBody>
          <a:bodyPr wrap="square" rtlCol="0">
            <a:noAutofit/>
          </a:bodyPr>
          <a:p>
            <a:endParaRPr lang="en-US"/>
          </a:p>
        </p:txBody>
      </p:sp>
      <p:sp>
        <p:nvSpPr>
          <p:cNvPr id="8" name="Text Box 7"/>
          <p:cNvSpPr txBox="1"/>
          <p:nvPr/>
        </p:nvSpPr>
        <p:spPr>
          <a:xfrm>
            <a:off x="522605" y="1901825"/>
            <a:ext cx="6585585" cy="2538730"/>
          </a:xfrm>
          <a:prstGeom prst="rect">
            <a:avLst/>
          </a:prstGeom>
          <a:noFill/>
        </p:spPr>
        <p:txBody>
          <a:bodyPr wrap="square" rtlCol="0">
            <a:noAutofit/>
          </a:bodyPr>
          <a:p>
            <a:r>
              <a:rPr lang="en-US" altLang="en-US">
                <a:solidFill>
                  <a:schemeClr val="accent5">
                    <a:lumMod val="60000"/>
                    <a:lumOff val="40000"/>
                  </a:schemeClr>
                </a:solidFill>
              </a:rPr>
              <a:t>Page 1 – Student Overview</a:t>
            </a:r>
            <a:endParaRPr lang="en-US" altLang="en-US">
              <a:solidFill>
                <a:schemeClr val="accent5">
                  <a:lumMod val="60000"/>
                  <a:lumOff val="40000"/>
                </a:schemeClr>
              </a:solidFill>
            </a:endParaRPr>
          </a:p>
          <a:p>
            <a:r>
              <a:rPr lang="en-US" altLang="en-US">
                <a:solidFill>
                  <a:schemeClr val="accent5">
                    <a:lumMod val="60000"/>
                    <a:lumOff val="40000"/>
                  </a:schemeClr>
                </a:solidFill>
              </a:rPr>
              <a:t>This page provides a summary of student academic and lifestyle data using KPI cards and interactive charts. It helps users quickly analyze attendance, class participation, department-wise performance, and backlogs.</a:t>
            </a:r>
            <a:endParaRPr lang="en-US" altLang="en-US">
              <a:solidFill>
                <a:schemeClr val="accent5">
                  <a:lumMod val="60000"/>
                  <a:lumOff val="40000"/>
                </a:schemeClr>
              </a:solidFill>
            </a:endParaRPr>
          </a:p>
          <a:p>
            <a:r>
              <a:rPr lang="en-US" altLang="en-US">
                <a:solidFill>
                  <a:schemeClr val="accent5">
                    <a:lumMod val="60000"/>
                    <a:lumOff val="40000"/>
                  </a:schemeClr>
                </a:solidFill>
              </a:rPr>
              <a:t>Page 2 – Academic Performance Analysis</a:t>
            </a:r>
            <a:endParaRPr lang="en-US" altLang="en-US">
              <a:solidFill>
                <a:schemeClr val="accent5">
                  <a:lumMod val="60000"/>
                  <a:lumOff val="40000"/>
                </a:schemeClr>
              </a:solidFill>
            </a:endParaRPr>
          </a:p>
          <a:p>
            <a:r>
              <a:rPr lang="en-US" altLang="en-US">
                <a:solidFill>
                  <a:schemeClr val="accent5">
                    <a:lumMod val="60000"/>
                    <a:lumOff val="40000"/>
                  </a:schemeClr>
                </a:solidFill>
              </a:rPr>
              <a:t>This page focuses on comparing current and previous CGPA, screen time, exercise habits, and academic trends. It enables users to understand student performance across different departments and categories.</a:t>
            </a:r>
            <a:endParaRPr lang="en-US" altLang="en-US">
              <a:solidFill>
                <a:schemeClr val="accent5">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p:spPr>
        <p:txBody>
          <a:bodyPr/>
          <a:lstStyle/>
          <a:p>
            <a:endParaRPr lang="en-IN"/>
          </a:p>
        </p:txBody>
      </p:sp>
      <p:sp>
        <p:nvSpPr>
          <p:cNvPr id="3" name="Text 1"/>
          <p:cNvSpPr/>
          <p:nvPr/>
        </p:nvSpPr>
        <p:spPr>
          <a:xfrm>
            <a:off x="457200" y="594360"/>
            <a:ext cx="8229600" cy="457200"/>
          </a:xfrm>
          <a:prstGeom prst="rect">
            <a:avLst/>
          </a:prstGeom>
          <a:noFill/>
        </p:spPr>
        <p:txBody>
          <a:bodyPr wrap="square" rtlCol="0" anchor="ctr"/>
          <a:lstStyle/>
          <a:p>
            <a:pPr marL="0" indent="0">
              <a:buNone/>
            </a:pPr>
            <a:r>
              <a:rPr lang="en-US" sz="2400" b="1" dirty="0">
                <a:solidFill>
                  <a:srgbClr val="1B3A6B"/>
                </a:solidFill>
                <a:latin typeface="Cambria" panose="02040503050406030204" pitchFamily="34" charset="0"/>
                <a:ea typeface="Cambria" panose="02040503050406030204" pitchFamily="34" charset="-122"/>
                <a:cs typeface="Cambria" panose="02040503050406030204" pitchFamily="34" charset="-120"/>
              </a:rPr>
              <a:t>Dashboard — Page 1: Overview</a:t>
            </a:r>
            <a:endParaRPr lang="en-US" sz="2400" dirty="0"/>
          </a:p>
        </p:txBody>
      </p:sp>
      <p:sp>
        <p:nvSpPr>
          <p:cNvPr id="4" name="Shape 2"/>
          <p:cNvSpPr/>
          <p:nvPr/>
        </p:nvSpPr>
        <p:spPr>
          <a:xfrm>
            <a:off x="365760" y="1097280"/>
            <a:ext cx="5303520" cy="3291840"/>
          </a:xfrm>
          <a:prstGeom prst="roundRect">
            <a:avLst>
              <a:gd name="adj" fmla="val 2222"/>
            </a:avLst>
          </a:prstGeom>
          <a:solidFill>
            <a:srgbClr val="EFF6FF"/>
          </a:solidFill>
          <a:ln w="19050">
            <a:solidFill>
              <a:srgbClr val="DBEAFE"/>
            </a:solidFill>
            <a:prstDash val="dash"/>
          </a:ln>
        </p:spPr>
        <p:txBody>
          <a:bodyPr/>
          <a:lstStyle/>
          <a:p>
            <a:endParaRPr lang="en-IN"/>
          </a:p>
        </p:txBody>
      </p:sp>
      <p:sp>
        <p:nvSpPr>
          <p:cNvPr id="5" name="Text 3"/>
          <p:cNvSpPr/>
          <p:nvPr/>
        </p:nvSpPr>
        <p:spPr>
          <a:xfrm>
            <a:off x="365760" y="2560320"/>
            <a:ext cx="5303520" cy="365760"/>
          </a:xfrm>
          <a:prstGeom prst="rect">
            <a:avLst/>
          </a:prstGeom>
          <a:noFill/>
        </p:spPr>
        <p:txBody>
          <a:bodyPr wrap="square" rtlCol="0" anchor="ctr"/>
          <a:lstStyle/>
          <a:p>
            <a:pPr marL="0" indent="0" algn="ctr">
              <a:buNone/>
            </a:pPr>
            <a:r>
              <a:rPr lang="en-US" sz="1100" i="1" dirty="0">
                <a:solidFill>
                  <a:srgbClr val="2563EB"/>
                </a:solidFill>
                <a:latin typeface="Calibri" panose="020F0502020204030204" pitchFamily="34" charset="0"/>
                <a:ea typeface="Calibri" panose="020F0502020204030204" pitchFamily="34" charset="-122"/>
                <a:cs typeface="Calibri" panose="020F0502020204030204" pitchFamily="34" charset="-120"/>
              </a:rPr>
              <a:t>[ Screenshot — Overview Page ]</a:t>
            </a:r>
            <a:endParaRPr lang="en-US" sz="1100" dirty="0"/>
          </a:p>
        </p:txBody>
      </p:sp>
      <p:sp>
        <p:nvSpPr>
          <p:cNvPr id="6" name="Text 4"/>
          <p:cNvSpPr/>
          <p:nvPr/>
        </p:nvSpPr>
        <p:spPr>
          <a:xfrm>
            <a:off x="5852160" y="1097280"/>
            <a:ext cx="3108960" cy="320040"/>
          </a:xfrm>
          <a:prstGeom prst="rect">
            <a:avLst/>
          </a:prstGeom>
          <a:noFill/>
        </p:spPr>
        <p:txBody>
          <a:bodyPr wrap="square" rtlCol="0" anchor="ctr"/>
          <a:lstStyle/>
          <a:p>
            <a:pPr marL="0" indent="0">
              <a:buNone/>
            </a:pPr>
            <a:r>
              <a:rPr lang="en-US" sz="1300" b="1" dirty="0">
                <a:solidFill>
                  <a:srgbClr val="1B3A6B"/>
                </a:solidFill>
                <a:latin typeface="Calibri" panose="020F0502020204030204" pitchFamily="34" charset="0"/>
                <a:ea typeface="Calibri" panose="020F0502020204030204" pitchFamily="34" charset="-122"/>
                <a:cs typeface="Calibri" panose="020F0502020204030204" pitchFamily="34" charset="-120"/>
              </a:rPr>
              <a:t>Visuals on this page</a:t>
            </a:r>
            <a:endParaRPr lang="en-US" sz="1300" dirty="0"/>
          </a:p>
        </p:txBody>
      </p:sp>
      <p:sp>
        <p:nvSpPr>
          <p:cNvPr id="7" name="Shape 5"/>
          <p:cNvSpPr/>
          <p:nvPr/>
        </p:nvSpPr>
        <p:spPr>
          <a:xfrm>
            <a:off x="5852160" y="1508760"/>
            <a:ext cx="182880" cy="182880"/>
          </a:xfrm>
          <a:prstGeom prst="ellipse">
            <a:avLst/>
          </a:prstGeom>
          <a:solidFill>
            <a:srgbClr val="2563EB"/>
          </a:solidFill>
        </p:spPr>
        <p:txBody>
          <a:bodyPr/>
          <a:lstStyle/>
          <a:p>
            <a:endParaRPr lang="en-IN"/>
          </a:p>
        </p:txBody>
      </p:sp>
      <p:sp>
        <p:nvSpPr>
          <p:cNvPr id="8" name="Text 6"/>
          <p:cNvSpPr/>
          <p:nvPr/>
        </p:nvSpPr>
        <p:spPr>
          <a:xfrm>
            <a:off x="6126480" y="1481328"/>
            <a:ext cx="2834640" cy="347472"/>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KPI Cards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Total Age, Total Class Participation, Total Attendance, Total Backlogs</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5852160" y="1876044"/>
            <a:ext cx="182880" cy="182880"/>
          </a:xfrm>
          <a:prstGeom prst="ellipse">
            <a:avLst/>
          </a:prstGeom>
          <a:solidFill>
            <a:srgbClr val="2563EB"/>
          </a:solidFill>
        </p:spPr>
        <p:txBody>
          <a:bodyPr/>
          <a:lstStyle/>
          <a:p>
            <a:endParaRPr lang="en-IN"/>
          </a:p>
        </p:txBody>
      </p:sp>
      <p:sp>
        <p:nvSpPr>
          <p:cNvPr id="10" name="Text 8"/>
          <p:cNvSpPr/>
          <p:nvPr/>
        </p:nvSpPr>
        <p:spPr>
          <a:xfrm>
            <a:off x="6126480" y="1932432"/>
            <a:ext cx="2834640" cy="347472"/>
          </a:xfrm>
          <a:prstGeom prst="rect">
            <a:avLst/>
          </a:prstGeom>
          <a:noFill/>
        </p:spPr>
        <p:txBody>
          <a:bodyPr wrap="square" rtlCol="0" anchor="ctr"/>
          <a:lstStyle/>
          <a:p>
            <a:pPr marL="0" indent="0">
              <a:buNone/>
            </a:pP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Column Chart</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Attendance by Department</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Backlogs by Department</a:t>
            </a:r>
            <a:r>
              <a:rPr lang="en-IN"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Screen Time by Month</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867400" y="2388108"/>
            <a:ext cx="182880" cy="182880"/>
          </a:xfrm>
          <a:prstGeom prst="ellipse">
            <a:avLst/>
          </a:prstGeom>
          <a:solidFill>
            <a:srgbClr val="2563EB"/>
          </a:solidFill>
        </p:spPr>
        <p:txBody>
          <a:bodyPr/>
          <a:lstStyle/>
          <a:p>
            <a:endParaRPr lang="en-IN"/>
          </a:p>
        </p:txBody>
      </p:sp>
      <p:sp>
        <p:nvSpPr>
          <p:cNvPr id="12" name="Text 10"/>
          <p:cNvSpPr/>
          <p:nvPr/>
        </p:nvSpPr>
        <p:spPr>
          <a:xfrm>
            <a:off x="6126480" y="2360676"/>
            <a:ext cx="2834640" cy="347472"/>
          </a:xfrm>
          <a:prstGeom prst="rect">
            <a:avLst/>
          </a:prstGeom>
          <a:noFill/>
        </p:spPr>
        <p:txBody>
          <a:bodyPr wrap="square" rtlCol="0" anchor="ctr"/>
          <a:lstStyle/>
          <a:p>
            <a:pPr marL="0" indent="0">
              <a:buNone/>
            </a:pP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Treemap</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Exercise Status vs Semester &amp; Weekend Study Hours</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5867400" y="2717292"/>
            <a:ext cx="182880" cy="182880"/>
          </a:xfrm>
          <a:prstGeom prst="ellipse">
            <a:avLst/>
          </a:prstGeom>
          <a:solidFill>
            <a:srgbClr val="2563EB"/>
          </a:solidFill>
        </p:spPr>
        <p:txBody>
          <a:bodyPr/>
          <a:lstStyle/>
          <a:p>
            <a:endParaRPr lang="en-IN"/>
          </a:p>
        </p:txBody>
      </p:sp>
      <p:sp>
        <p:nvSpPr>
          <p:cNvPr id="14" name="Text 12"/>
          <p:cNvSpPr/>
          <p:nvPr/>
        </p:nvSpPr>
        <p:spPr>
          <a:xfrm>
            <a:off x="6126480" y="2667000"/>
            <a:ext cx="2834640" cy="347472"/>
          </a:xfrm>
          <a:prstGeom prst="rect">
            <a:avLst/>
          </a:prstGeom>
          <a:noFill/>
        </p:spPr>
        <p:txBody>
          <a:bodyPr wrap="square" rtlCol="0" anchor="ctr"/>
          <a:lstStyle/>
          <a:p>
            <a:pPr marL="0" indent="0">
              <a:buNone/>
            </a:pP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Column Chart</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Screen Time by Device Type</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5943600" y="3107436"/>
            <a:ext cx="182880" cy="182880"/>
          </a:xfrm>
          <a:prstGeom prst="ellipse">
            <a:avLst/>
          </a:prstGeom>
          <a:solidFill>
            <a:srgbClr val="2563EB"/>
          </a:solidFill>
        </p:spPr>
        <p:txBody>
          <a:bodyPr/>
          <a:lstStyle/>
          <a:p>
            <a:endParaRPr lang="en-IN"/>
          </a:p>
        </p:txBody>
      </p:sp>
      <p:sp>
        <p:nvSpPr>
          <p:cNvPr id="16" name="Text 14"/>
          <p:cNvSpPr/>
          <p:nvPr/>
        </p:nvSpPr>
        <p:spPr>
          <a:xfrm>
            <a:off x="6126480" y="3041904"/>
            <a:ext cx="2834640" cy="347472"/>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Slicer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Department, Class Participation, and Stress Level Filters</a:t>
            </a:r>
            <a:endPar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5852160" y="3657600"/>
            <a:ext cx="3108960" cy="274320"/>
          </a:xfrm>
          <a:prstGeom prst="rect">
            <a:avLst/>
          </a:prstGeom>
          <a:noFill/>
        </p:spPr>
        <p:txBody>
          <a:bodyPr wrap="square" rtlCol="0" anchor="ctr"/>
          <a:lstStyle/>
          <a:p>
            <a:pPr marL="0" indent="0">
              <a:buNone/>
            </a:pPr>
            <a:r>
              <a:rPr lang="en-US" sz="1200" b="1" dirty="0">
                <a:solidFill>
                  <a:srgbClr val="0D9488"/>
                </a:solidFill>
                <a:latin typeface="Calibri" panose="020F0502020204030204" pitchFamily="34" charset="0"/>
                <a:ea typeface="Calibri" panose="020F0502020204030204" pitchFamily="34" charset="-122"/>
                <a:cs typeface="Calibri" panose="020F0502020204030204" pitchFamily="34" charset="-120"/>
              </a:rPr>
              <a:t>Key Insight</a:t>
            </a:r>
            <a:endParaRPr lang="en-US" sz="1200" dirty="0"/>
          </a:p>
        </p:txBody>
      </p:sp>
      <p:sp>
        <p:nvSpPr>
          <p:cNvPr id="18" name="Text 16"/>
          <p:cNvSpPr/>
          <p:nvPr/>
        </p:nvSpPr>
        <p:spPr>
          <a:xfrm>
            <a:off x="5852160" y="3931920"/>
            <a:ext cx="3108960" cy="777240"/>
          </a:xfrm>
          <a:prstGeom prst="rect">
            <a:avLst/>
          </a:prstGeom>
          <a:noFill/>
        </p:spPr>
        <p:txBody>
          <a:bodyPr wrap="square" rtlCol="0" anchor="ctr"/>
          <a:lstStyle/>
          <a:p>
            <a:pPr marL="0" indent="0">
              <a:buNone/>
            </a:pPr>
            <a:r>
              <a:rPr lang="en-US" altLang="en-US" sz="1050" dirty="0"/>
              <a:t>The dashboard helps users identify trends in student performance by comparing CGPA, study habits, and lifestyle factors across different departments and student groups.</a:t>
            </a:r>
            <a:endParaRPr lang="en-US" altLang="en-US" sz="1050" dirty="0"/>
          </a:p>
        </p:txBody>
      </p:sp>
      <p:sp>
        <p:nvSpPr>
          <p:cNvPr id="19" name="Text 17"/>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64748B"/>
                </a:solidFill>
              </a:rPr>
              <a:t>12 / 14</a:t>
            </a:r>
            <a:endParaRPr lang="en-US" sz="900" dirty="0"/>
          </a:p>
        </p:txBody>
      </p:sp>
      <p:pic>
        <p:nvPicPr>
          <p:cNvPr id="21" name="Picture 20"/>
          <p:cNvPicPr>
            <a:picLocks noChangeAspect="1"/>
          </p:cNvPicPr>
          <p:nvPr/>
        </p:nvPicPr>
        <p:blipFill>
          <a:blip r:embed="rId1"/>
          <a:stretch>
            <a:fillRect/>
          </a:stretch>
        </p:blipFill>
        <p:spPr>
          <a:xfrm>
            <a:off x="0" y="8721"/>
            <a:ext cx="2151088" cy="451386"/>
          </a:xfrm>
          <a:prstGeom prst="rect">
            <a:avLst/>
          </a:prstGeom>
        </p:spPr>
      </p:pic>
      <p:pic>
        <p:nvPicPr>
          <p:cNvPr id="22" name="Picture 21"/>
          <p:cNvPicPr>
            <a:picLocks noChangeAspect="1"/>
          </p:cNvPicPr>
          <p:nvPr/>
        </p:nvPicPr>
        <p:blipFill>
          <a:blip r:embed="rId2"/>
          <a:stretch>
            <a:fillRect/>
          </a:stretch>
        </p:blipFill>
        <p:spPr>
          <a:xfrm>
            <a:off x="365125" y="1101090"/>
            <a:ext cx="5303520" cy="32810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p:spPr>
        <p:txBody>
          <a:bodyPr/>
          <a:lstStyle/>
          <a:p>
            <a:endParaRPr lang="en-IN"/>
          </a:p>
        </p:txBody>
      </p:sp>
      <p:sp>
        <p:nvSpPr>
          <p:cNvPr id="3" name="Text 1"/>
          <p:cNvSpPr/>
          <p:nvPr/>
        </p:nvSpPr>
        <p:spPr>
          <a:xfrm>
            <a:off x="457200" y="594360"/>
            <a:ext cx="8229600" cy="457200"/>
          </a:xfrm>
          <a:prstGeom prst="rect">
            <a:avLst/>
          </a:prstGeom>
          <a:noFill/>
        </p:spPr>
        <p:txBody>
          <a:bodyPr wrap="square" rtlCol="0" anchor="ctr"/>
          <a:lstStyle/>
          <a:p>
            <a:pPr marL="0" indent="0">
              <a:buNone/>
            </a:pPr>
            <a:r>
              <a:rPr lang="en-US" sz="2600" b="1" dirty="0">
                <a:solidFill>
                  <a:srgbClr val="1B3A6B"/>
                </a:solidFill>
                <a:latin typeface="Cambria" panose="02040503050406030204" pitchFamily="34" charset="0"/>
                <a:ea typeface="Cambria" panose="02040503050406030204" pitchFamily="34" charset="-122"/>
                <a:cs typeface="Cambria" panose="02040503050406030204" pitchFamily="34" charset="-120"/>
              </a:rPr>
              <a:t>Key Findings &amp; Insights</a:t>
            </a:r>
            <a:endParaRPr lang="en-US" sz="2600" dirty="0"/>
          </a:p>
        </p:txBody>
      </p:sp>
      <p:sp>
        <p:nvSpPr>
          <p:cNvPr id="4" name="Shape 2"/>
          <p:cNvSpPr/>
          <p:nvPr/>
        </p:nvSpPr>
        <p:spPr>
          <a:xfrm>
            <a:off x="365760" y="1143000"/>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502920" y="1435608"/>
            <a:ext cx="411480" cy="411480"/>
          </a:xfrm>
          <a:prstGeom prst="ellipse">
            <a:avLst/>
          </a:prstGeom>
          <a:solidFill>
            <a:srgbClr val="2563EB"/>
          </a:solidFill>
        </p:spPr>
        <p:txBody>
          <a:bodyPr/>
          <a:lstStyle/>
          <a:p>
            <a:endParaRPr lang="en-IN"/>
          </a:p>
        </p:txBody>
      </p:sp>
      <p:sp>
        <p:nvSpPr>
          <p:cNvPr id="6" name="Text 4"/>
          <p:cNvSpPr/>
          <p:nvPr/>
        </p:nvSpPr>
        <p:spPr>
          <a:xfrm>
            <a:off x="502920" y="1444752"/>
            <a:ext cx="411480" cy="393192"/>
          </a:xfrm>
          <a:prstGeom prst="rect">
            <a:avLst/>
          </a:prstGeom>
          <a:noFill/>
        </p:spPr>
        <p:txBody>
          <a:bodyPr wrap="square"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01</a:t>
            </a:r>
            <a:endParaRPr lang="en-US" sz="1200" dirty="0"/>
          </a:p>
        </p:txBody>
      </p:sp>
      <p:sp>
        <p:nvSpPr>
          <p:cNvPr id="7" name="Text 5"/>
          <p:cNvSpPr/>
          <p:nvPr/>
        </p:nvSpPr>
        <p:spPr>
          <a:xfrm>
            <a:off x="1005840" y="1234440"/>
            <a:ext cx="3246120" cy="822960"/>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[Finding 1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The slicer showed better attendance and higher class participation compared to most other departments, indicating active student involvement</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t</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8" name="Shape 6"/>
          <p:cNvSpPr/>
          <p:nvPr/>
        </p:nvSpPr>
        <p:spPr>
          <a:xfrm>
            <a:off x="365760" y="2313432"/>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9" name="Shape 7"/>
          <p:cNvSpPr/>
          <p:nvPr/>
        </p:nvSpPr>
        <p:spPr>
          <a:xfrm>
            <a:off x="502920" y="2606040"/>
            <a:ext cx="411480" cy="411480"/>
          </a:xfrm>
          <a:prstGeom prst="ellipse">
            <a:avLst/>
          </a:prstGeom>
          <a:solidFill>
            <a:srgbClr val="0D9488"/>
          </a:solidFill>
        </p:spPr>
        <p:txBody>
          <a:bodyPr/>
          <a:lstStyle/>
          <a:p>
            <a:endParaRPr lang="en-IN"/>
          </a:p>
        </p:txBody>
      </p:sp>
      <p:sp>
        <p:nvSpPr>
          <p:cNvPr id="10" name="Text 8"/>
          <p:cNvSpPr/>
          <p:nvPr/>
        </p:nvSpPr>
        <p:spPr>
          <a:xfrm>
            <a:off x="502920" y="2615184"/>
            <a:ext cx="411480" cy="393192"/>
          </a:xfrm>
          <a:prstGeom prst="rect">
            <a:avLst/>
          </a:prstGeom>
          <a:noFill/>
        </p:spPr>
        <p:txBody>
          <a:bodyPr wrap="square"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02</a:t>
            </a:r>
            <a:endParaRPr lang="en-US" sz="1200" dirty="0"/>
          </a:p>
        </p:txBody>
      </p:sp>
      <p:sp>
        <p:nvSpPr>
          <p:cNvPr id="11" name="Text 9"/>
          <p:cNvSpPr/>
          <p:nvPr/>
        </p:nvSpPr>
        <p:spPr>
          <a:xfrm>
            <a:off x="1005840" y="2404872"/>
            <a:ext cx="3246120" cy="822960"/>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[Finding 2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Students from different departments participated in classroom activities at different levels, showing that engagement varies across departments</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12" name="Shape 10"/>
          <p:cNvSpPr/>
          <p:nvPr/>
        </p:nvSpPr>
        <p:spPr>
          <a:xfrm>
            <a:off x="365760" y="3483864"/>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3" name="Shape 11"/>
          <p:cNvSpPr/>
          <p:nvPr/>
        </p:nvSpPr>
        <p:spPr>
          <a:xfrm>
            <a:off x="502920" y="3776472"/>
            <a:ext cx="411480" cy="411480"/>
          </a:xfrm>
          <a:prstGeom prst="ellipse">
            <a:avLst/>
          </a:prstGeom>
          <a:solidFill>
            <a:srgbClr val="EA580C"/>
          </a:solidFill>
        </p:spPr>
        <p:txBody>
          <a:bodyPr/>
          <a:lstStyle/>
          <a:p>
            <a:endParaRPr lang="en-IN"/>
          </a:p>
        </p:txBody>
      </p:sp>
      <p:sp>
        <p:nvSpPr>
          <p:cNvPr id="14" name="Text 12"/>
          <p:cNvSpPr/>
          <p:nvPr/>
        </p:nvSpPr>
        <p:spPr>
          <a:xfrm>
            <a:off x="502920" y="3785616"/>
            <a:ext cx="411480" cy="393192"/>
          </a:xfrm>
          <a:prstGeom prst="rect">
            <a:avLst/>
          </a:prstGeom>
          <a:noFill/>
        </p:spPr>
        <p:txBody>
          <a:bodyPr wrap="square"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03</a:t>
            </a:r>
            <a:endParaRPr lang="en-US" sz="1200" dirty="0"/>
          </a:p>
        </p:txBody>
      </p:sp>
      <p:sp>
        <p:nvSpPr>
          <p:cNvPr id="15" name="Text 13"/>
          <p:cNvSpPr/>
          <p:nvPr/>
        </p:nvSpPr>
        <p:spPr>
          <a:xfrm>
            <a:off x="1005840" y="3575304"/>
            <a:ext cx="3246120" cy="822960"/>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[Finding 3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Screen time changed throughout the year, suggesting that students' digital device usage is not the same in every month.</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16" name="Shape 14"/>
          <p:cNvSpPr/>
          <p:nvPr/>
        </p:nvSpPr>
        <p:spPr>
          <a:xfrm>
            <a:off x="4937760" y="1143000"/>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7" name="Shape 15"/>
          <p:cNvSpPr/>
          <p:nvPr/>
        </p:nvSpPr>
        <p:spPr>
          <a:xfrm>
            <a:off x="5074920" y="1435608"/>
            <a:ext cx="411480" cy="411480"/>
          </a:xfrm>
          <a:prstGeom prst="ellipse">
            <a:avLst/>
          </a:prstGeom>
          <a:solidFill>
            <a:srgbClr val="16A34A"/>
          </a:solidFill>
        </p:spPr>
        <p:txBody>
          <a:bodyPr/>
          <a:lstStyle/>
          <a:p>
            <a:endParaRPr lang="en-IN"/>
          </a:p>
        </p:txBody>
      </p:sp>
      <p:sp>
        <p:nvSpPr>
          <p:cNvPr id="18" name="Text 16"/>
          <p:cNvSpPr/>
          <p:nvPr/>
        </p:nvSpPr>
        <p:spPr>
          <a:xfrm>
            <a:off x="5074920" y="1444752"/>
            <a:ext cx="411480" cy="393192"/>
          </a:xfrm>
          <a:prstGeom prst="rect">
            <a:avLst/>
          </a:prstGeom>
          <a:noFill/>
        </p:spPr>
        <p:txBody>
          <a:bodyPr wrap="square"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04</a:t>
            </a:r>
            <a:endParaRPr lang="en-US" sz="1200" dirty="0"/>
          </a:p>
        </p:txBody>
      </p:sp>
      <p:sp>
        <p:nvSpPr>
          <p:cNvPr id="19" name="Text 17"/>
          <p:cNvSpPr/>
          <p:nvPr/>
        </p:nvSpPr>
        <p:spPr>
          <a:xfrm>
            <a:off x="5577840" y="1234440"/>
            <a:ext cx="3246120" cy="822960"/>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[Finding 4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Class participation differed across departments, highlighting variations in student involvement in classroom activities</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20" name="Shape 18"/>
          <p:cNvSpPr/>
          <p:nvPr/>
        </p:nvSpPr>
        <p:spPr>
          <a:xfrm>
            <a:off x="4937760" y="2313432"/>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21" name="Shape 19"/>
          <p:cNvSpPr/>
          <p:nvPr/>
        </p:nvSpPr>
        <p:spPr>
          <a:xfrm>
            <a:off x="5074920" y="2606040"/>
            <a:ext cx="411480" cy="411480"/>
          </a:xfrm>
          <a:prstGeom prst="ellipse">
            <a:avLst/>
          </a:prstGeom>
          <a:solidFill>
            <a:srgbClr val="7C3AED"/>
          </a:solidFill>
        </p:spPr>
        <p:txBody>
          <a:bodyPr/>
          <a:lstStyle/>
          <a:p>
            <a:endParaRPr lang="en-IN"/>
          </a:p>
        </p:txBody>
      </p:sp>
      <p:sp>
        <p:nvSpPr>
          <p:cNvPr id="22" name="Text 20"/>
          <p:cNvSpPr/>
          <p:nvPr/>
        </p:nvSpPr>
        <p:spPr>
          <a:xfrm>
            <a:off x="5074920" y="2615184"/>
            <a:ext cx="411480" cy="393192"/>
          </a:xfrm>
          <a:prstGeom prst="rect">
            <a:avLst/>
          </a:prstGeom>
          <a:noFill/>
        </p:spPr>
        <p:txBody>
          <a:bodyPr wrap="square"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a:t>
            </a:r>
            <a:endParaRPr lang="en-US" sz="1200" dirty="0"/>
          </a:p>
        </p:txBody>
      </p:sp>
      <p:sp>
        <p:nvSpPr>
          <p:cNvPr id="23" name="Text 21"/>
          <p:cNvSpPr/>
          <p:nvPr/>
        </p:nvSpPr>
        <p:spPr>
          <a:xfrm>
            <a:off x="5577840" y="2404872"/>
            <a:ext cx="3246120" cy="822960"/>
          </a:xfrm>
          <a:prstGeom prst="rect">
            <a:avLst/>
          </a:prstGeom>
          <a:noFill/>
        </p:spPr>
        <p:txBody>
          <a:bodyPr wrap="square" rtlCol="0" anchor="ctr"/>
          <a:lstStyle/>
          <a:p>
            <a:pPr marL="0" indent="0">
              <a:buNone/>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[Finding 5 — </a:t>
            </a:r>
            <a:r>
              <a:rPr lang="en-US"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The dashboard makes it easy to compare attendance, participation, backlogs, and other academic information, helping users understand student performance quickly.</a:t>
            </a:r>
            <a:r>
              <a:rPr lang="en-IN" alt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24" name="Text 22"/>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64748B"/>
                </a:solidFill>
              </a:rPr>
              <a:t>13 / 14</a:t>
            </a:r>
            <a:endParaRPr lang="en-US" sz="900" dirty="0"/>
          </a:p>
        </p:txBody>
      </p:sp>
      <p:pic>
        <p:nvPicPr>
          <p:cNvPr id="26" name="Picture 25"/>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6583680" y="-914400"/>
            <a:ext cx="4114800" cy="4114800"/>
          </a:xfrm>
          <a:prstGeom prst="ellipse">
            <a:avLst/>
          </a:prstGeom>
          <a:solidFill>
            <a:srgbClr val="FFFFFF">
              <a:alpha val="6000"/>
            </a:srgbClr>
          </a:solidFill>
        </p:spPr>
        <p:txBody>
          <a:bodyPr/>
          <a:lstStyle/>
          <a:p>
            <a:endParaRPr lang="en-IN"/>
          </a:p>
        </p:txBody>
      </p:sp>
      <p:sp>
        <p:nvSpPr>
          <p:cNvPr id="3" name="Shape 1"/>
          <p:cNvSpPr/>
          <p:nvPr/>
        </p:nvSpPr>
        <p:spPr>
          <a:xfrm>
            <a:off x="7315200" y="2926080"/>
            <a:ext cx="2286000" cy="2286000"/>
          </a:xfrm>
          <a:prstGeom prst="ellipse">
            <a:avLst/>
          </a:prstGeom>
          <a:solidFill>
            <a:srgbClr val="FFFFFF">
              <a:alpha val="4000"/>
            </a:srgbClr>
          </a:solidFill>
        </p:spPr>
        <p:txBody>
          <a:bodyPr/>
          <a:lstStyle/>
          <a:p>
            <a:endParaRPr lang="en-IN"/>
          </a:p>
        </p:txBody>
      </p:sp>
      <p:sp>
        <p:nvSpPr>
          <p:cNvPr id="4" name="Text 2"/>
          <p:cNvSpPr/>
          <p:nvPr/>
        </p:nvSpPr>
        <p:spPr>
          <a:xfrm>
            <a:off x="548640" y="640080"/>
            <a:ext cx="7772400" cy="64008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 &amp; Thank You</a:t>
            </a:r>
            <a:endParaRPr lang="en-US" sz="3000" dirty="0"/>
          </a:p>
        </p:txBody>
      </p:sp>
      <p:sp>
        <p:nvSpPr>
          <p:cNvPr id="5" name="Shape 3"/>
          <p:cNvSpPr/>
          <p:nvPr/>
        </p:nvSpPr>
        <p:spPr>
          <a:xfrm>
            <a:off x="548640" y="1444752"/>
            <a:ext cx="146304" cy="320040"/>
          </a:xfrm>
          <a:prstGeom prst="rect">
            <a:avLst/>
          </a:prstGeom>
          <a:solidFill>
            <a:srgbClr val="2563EB"/>
          </a:solidFill>
        </p:spPr>
        <p:txBody>
          <a:bodyPr/>
          <a:lstStyle/>
          <a:p>
            <a:endParaRPr lang="en-IN"/>
          </a:p>
        </p:txBody>
      </p:sp>
      <p:sp>
        <p:nvSpPr>
          <p:cNvPr id="6" name="Text 4"/>
          <p:cNvSpPr/>
          <p:nvPr/>
        </p:nvSpPr>
        <p:spPr>
          <a:xfrm>
            <a:off x="804672" y="1417320"/>
            <a:ext cx="7498080" cy="548640"/>
          </a:xfrm>
          <a:prstGeom prst="rect">
            <a:avLst/>
          </a:prstGeom>
          <a:noFill/>
        </p:spPr>
        <p:txBody>
          <a:bodyPr wrap="square" rtlCol="0" anchor="ctr"/>
          <a:lstStyle/>
          <a:p>
            <a:pPr marL="0" indent="0">
              <a:buNone/>
            </a:pPr>
            <a:r>
              <a:rPr 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rPr>
              <a:t>Successfully built an end-to-end Power BI solution from raw data to published dashboard</a:t>
            </a:r>
            <a:endParaRPr lang="en-US" sz="1300" dirty="0"/>
          </a:p>
        </p:txBody>
      </p:sp>
      <p:sp>
        <p:nvSpPr>
          <p:cNvPr id="7" name="Shape 5"/>
          <p:cNvSpPr/>
          <p:nvPr/>
        </p:nvSpPr>
        <p:spPr>
          <a:xfrm>
            <a:off x="548640" y="2039112"/>
            <a:ext cx="146304" cy="320040"/>
          </a:xfrm>
          <a:prstGeom prst="rect">
            <a:avLst/>
          </a:prstGeom>
          <a:solidFill>
            <a:srgbClr val="2563EB"/>
          </a:solidFill>
        </p:spPr>
        <p:txBody>
          <a:bodyPr/>
          <a:lstStyle/>
          <a:p>
            <a:endParaRPr lang="en-IN"/>
          </a:p>
        </p:txBody>
      </p:sp>
      <p:sp>
        <p:nvSpPr>
          <p:cNvPr id="8" name="Text 6"/>
          <p:cNvSpPr/>
          <p:nvPr/>
        </p:nvSpPr>
        <p:spPr>
          <a:xfrm>
            <a:off x="804672" y="2011680"/>
            <a:ext cx="7498080" cy="548640"/>
          </a:xfrm>
          <a:prstGeom prst="rect">
            <a:avLst/>
          </a:prstGeom>
          <a:noFill/>
        </p:spPr>
        <p:txBody>
          <a:bodyPr wrap="square" rtlCol="0" anchor="ctr"/>
          <a:lstStyle/>
          <a:p>
            <a:pPr marL="0" indent="0">
              <a:buNone/>
            </a:pPr>
            <a:r>
              <a:rPr lang="en-US" alt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rPr>
              <a:t>The dashboard provides quick insights into student academic performance and engagement.</a:t>
            </a:r>
            <a:endParaRPr lang="en-US" sz="1300" dirty="0"/>
          </a:p>
        </p:txBody>
      </p:sp>
      <p:sp>
        <p:nvSpPr>
          <p:cNvPr id="9" name="Shape 7"/>
          <p:cNvSpPr/>
          <p:nvPr/>
        </p:nvSpPr>
        <p:spPr>
          <a:xfrm>
            <a:off x="548640" y="2633472"/>
            <a:ext cx="146304" cy="320040"/>
          </a:xfrm>
          <a:prstGeom prst="rect">
            <a:avLst/>
          </a:prstGeom>
          <a:solidFill>
            <a:srgbClr val="2563EB"/>
          </a:solidFill>
        </p:spPr>
        <p:txBody>
          <a:bodyPr/>
          <a:lstStyle/>
          <a:p>
            <a:endParaRPr lang="en-IN"/>
          </a:p>
        </p:txBody>
      </p:sp>
      <p:sp>
        <p:nvSpPr>
          <p:cNvPr id="10" name="Text 8"/>
          <p:cNvSpPr/>
          <p:nvPr/>
        </p:nvSpPr>
        <p:spPr>
          <a:xfrm>
            <a:off x="804672" y="2606040"/>
            <a:ext cx="7498080" cy="548640"/>
          </a:xfrm>
          <a:prstGeom prst="rect">
            <a:avLst/>
          </a:prstGeom>
          <a:noFill/>
        </p:spPr>
        <p:txBody>
          <a:bodyPr wrap="square" rtlCol="0" anchor="ctr"/>
          <a:lstStyle/>
          <a:p>
            <a:pPr marL="0" lvl="1" indent="0">
              <a:buNone/>
            </a:pPr>
            <a:r>
              <a:rPr lang="en-US" alt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sym typeface="+mn-ea"/>
              </a:rPr>
              <a:t>Used Power Query to clean and transform the student dataset before analysis.</a:t>
            </a:r>
            <a:endParaRPr lang="en-US" alt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sz="1300" dirty="0"/>
          </a:p>
        </p:txBody>
      </p:sp>
      <p:sp>
        <p:nvSpPr>
          <p:cNvPr id="11" name="Shape 9"/>
          <p:cNvSpPr/>
          <p:nvPr/>
        </p:nvSpPr>
        <p:spPr>
          <a:xfrm>
            <a:off x="548640" y="3227832"/>
            <a:ext cx="146304" cy="320040"/>
          </a:xfrm>
          <a:prstGeom prst="rect">
            <a:avLst/>
          </a:prstGeom>
          <a:solidFill>
            <a:srgbClr val="2563EB"/>
          </a:solidFill>
        </p:spPr>
        <p:txBody>
          <a:bodyPr/>
          <a:lstStyle/>
          <a:p>
            <a:endParaRPr lang="en-IN"/>
          </a:p>
        </p:txBody>
      </p:sp>
      <p:sp>
        <p:nvSpPr>
          <p:cNvPr id="12" name="Text 10"/>
          <p:cNvSpPr/>
          <p:nvPr/>
        </p:nvSpPr>
        <p:spPr>
          <a:xfrm>
            <a:off x="804672" y="3200400"/>
            <a:ext cx="7498080" cy="548640"/>
          </a:xfrm>
          <a:prstGeom prst="rect">
            <a:avLst/>
          </a:prstGeom>
          <a:noFill/>
        </p:spPr>
        <p:txBody>
          <a:bodyPr wrap="square" rtlCol="0" anchor="ctr"/>
          <a:lstStyle/>
          <a:p>
            <a:pPr marL="0" indent="0">
              <a:buNone/>
            </a:pPr>
            <a:r>
              <a:rPr 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rPr>
              <a:t>Future scope: </a:t>
            </a:r>
            <a:r>
              <a:rPr lang="en-US" alt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rPr>
              <a:t>Expand the dashboard with AI-powered academic insights.</a:t>
            </a:r>
            <a:endParaRPr lang="en-US" altLang="en-US" sz="1300" dirty="0">
              <a:solidFill>
                <a:srgbClr val="DBEAF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5760720" y="3931920"/>
            <a:ext cx="3108960" cy="731520"/>
          </a:xfrm>
          <a:prstGeom prst="rect">
            <a:avLst/>
          </a:prstGeom>
          <a:noFill/>
        </p:spPr>
        <p:txBody>
          <a:bodyPr wrap="square" rtlCol="0" anchor="ctr"/>
          <a:lstStyle/>
          <a:p>
            <a:pPr marL="0" indent="0" algn="ctr">
              <a:buNone/>
            </a:pPr>
            <a:r>
              <a:rPr lang="en-US" sz="1400" b="1" dirty="0">
                <a:solidFill>
                  <a:srgbClr val="93C5FD"/>
                </a:solidFill>
                <a:latin typeface="Cambria" panose="02040503050406030204" pitchFamily="34" charset="0"/>
                <a:ea typeface="Cambria" panose="02040503050406030204" pitchFamily="34" charset="-122"/>
                <a:cs typeface="Cambria" panose="02040503050406030204" pitchFamily="34" charset="-120"/>
              </a:rPr>
              <a:t>Questions &amp; Feedback Welcome</a:t>
            </a:r>
            <a:endParaRPr lang="en-US" sz="1400" dirty="0"/>
          </a:p>
        </p:txBody>
      </p:sp>
      <p:sp>
        <p:nvSpPr>
          <p:cNvPr id="17" name="Text 15"/>
          <p:cNvSpPr/>
          <p:nvPr/>
        </p:nvSpPr>
        <p:spPr>
          <a:xfrm>
            <a:off x="8046720" y="4800600"/>
            <a:ext cx="914400" cy="274320"/>
          </a:xfrm>
          <a:prstGeom prst="rect">
            <a:avLst/>
          </a:prstGeom>
          <a:noFill/>
        </p:spPr>
        <p:txBody>
          <a:bodyPr wrap="square" rtlCol="0" anchor="ctr"/>
          <a:lstStyle/>
          <a:p>
            <a:pPr marL="0" indent="0" algn="r">
              <a:buNone/>
            </a:pPr>
            <a:r>
              <a:rPr lang="en-US" sz="900" dirty="0">
                <a:solidFill>
                  <a:srgbClr val="93C5FD"/>
                </a:solidFill>
              </a:rPr>
              <a:t>14 / 14</a:t>
            </a:r>
            <a:endParaRPr lang="en-US" sz="900" dirty="0"/>
          </a:p>
        </p:txBody>
      </p:sp>
      <p:pic>
        <p:nvPicPr>
          <p:cNvPr id="19" name="Picture 18"/>
          <p:cNvPicPr>
            <a:picLocks noChangeAspect="1"/>
          </p:cNvPicPr>
          <p:nvPr/>
        </p:nvPicPr>
        <p:blipFill>
          <a:blip r:embed="rId1"/>
          <a:stretch>
            <a:fillRect/>
          </a:stretch>
        </p:blipFill>
        <p:spPr>
          <a:xfrm>
            <a:off x="0" y="8721"/>
            <a:ext cx="2151088" cy="451386"/>
          </a:xfrm>
          <a:prstGeom prst="rect">
            <a:avLst/>
          </a:prstGeom>
        </p:spPr>
      </p:pic>
    </p:spTree>
  </p:cSld>
  <p:clrMapOvr>
    <a:masterClrMapping/>
  </p:clrMapOvr>
</p:sld>
</file>

<file path=ppt/tags/tag1.xml><?xml version="1.0" encoding="utf-8"?>
<p:tagLst xmlns:p="http://schemas.openxmlformats.org/presentationml/2006/main">
  <p:tag name="TABLE_ENDDRAG_ORIGIN_RECT" val="396*156"/>
  <p:tag name="TABLE_ENDDRAG_RECT" val="28*213*396*1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4854</Words>
  <Application>WPS Presentation</Application>
  <PresentationFormat>On-screen Show (16:9)</PresentationFormat>
  <Paragraphs>261</Paragraphs>
  <Slides>11</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Aptos</vt:lpstr>
      <vt:lpstr>Segoe UI</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Summer Training — Project Presentation</dc:title>
  <dc:creator>PptxGenJS</dc:creator>
  <dc:subject>PptxGenJS Presentation</dc:subject>
  <cp:lastModifiedBy>mohit</cp:lastModifiedBy>
  <cp:revision>5</cp:revision>
  <dcterms:created xsi:type="dcterms:W3CDTF">2026-06-29T04:56:00Z</dcterms:created>
  <dcterms:modified xsi:type="dcterms:W3CDTF">2026-07-02T06:40:01Z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3C2E0EBC3D4243C3AD8E4B71D8753FFF_12</vt:lpwstr>
  </property>
</Properties>
</file>